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this presentation on the association between BMI and diabetes in US adults. This analysis uses data from NHANES 2017-2018, a nationally representative survey conducted by the CDC. Our goal is to quantify the dose-response relationship between BMI categories and diabetes prevalence using survey-weighted methods.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Diabetes is a global health crisis with substantial morbidity, mortality, and economic burden. Obesity is the single most important modifiable risk factor. NHANES provides the gold-standard data for estimating disease burden in the US, but the complex survey design must be properly accounted for to produce valid estimates.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objective is to quantify the dose-response relationship between BMI and diabetes. Secondary objectives include estimating weighted prevalence, computing adjusted odds ratios, examining disparities, and demonstrating why survey weights matter.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cross-sectional study using one cycle of NHANES data. We included 4,866 adults with complete BMI and HbA1c data. BMI was categorized per WHO definitions. Diabetes was defined using the ADA HbA1c threshold of 6.5%. We used survey-weighted logistic regression with two models: unadjusted and adjusted for age, sex, race/ethnicity, and education.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 shows the baseline characteristics. Nearly 43% of participants were obese, reflecting the high obesity prevalence in the US. Mean age was about 51 years with roughly equal sex distribution. Notice the clear gradient in HbA1c and diabetes prevalence across BMI categories. All differences were statistically significant with p &lt; 0.001.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 shows diabetes prevalence by BMI category. There is a clear dose-response pattern: prevalence roughly doubles from normal to overweight and again from overweight to obese. The survey-weighted prevalence is notably lower than unweighted, reflecting the oversampling of high-risk groups in NHANES. This 4.7 percentage point difference demonstrates why survey weights are essential.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forest plot shows adjusted odds ratios from the multivariable model. Obesity was associated with 4.5-fold higher odds of diabetes, and overweight with 2-fold higher odds. Age increased risk by 6% per year. Females had 30% lower odds than males. All associations were statistically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shows that the BMI-diabetes gradient is consistent across age groups. Importantly, even among younger adults aged 20-39, obesity is associated with substantially higher diabetes prevalence. The absolute difference is largest in older adults, where the combined effects of aging and obesity are most pronounced.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Racial and ethnic disparities in diabetes risk persisted even after adjustment for BMI and demographic factors. Non-Hispanic Asians had the highest adjusted odds ratio, which is particularly notable given their lower mean BMI. This finding aligns with evidence that Asian populations develop metabolic complications at lower BMI thresholds, supporting calls for ethnicity-specific cutoffs. Non-Hispanic Black and Mexican American populations also showed significantly elevated risk.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findings are consistent with decades of epidemiological evidence. The effect size for obesity is comparable to prior estimates. An important methodological lesson is the 4.7 percentage point difference between weighted and unweighted prevalence, demonstrating why survey weights must be used. Key limitations include the cross-sectional design, the HbA1c-only definition, and potential residual confounding.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demonstrated a strong, graded association between BMI and diabetes in a nationally representative US sample. Obesity conferred 4.5-fold higher odds of diabetes. Racial and ethnic disparities persisted after comprehensive adjustment. These findings reinforce the critical importance of obesity prevention and weight management as key strategies for reducing the population burden of diabetes.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I am happy to take any questions about the methodology, findings, or implications of this analysis.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548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058400" cy="1828800"/>
          </a:xfrm>
          <a:prstGeom prst="rect">
            <a:avLst/>
          </a:prstGeom>
          <a:noFill/>
        </p:spPr>
        <p:txBody>
          <a:bodyPr wrap="square">
            <a:spAutoFit/>
          </a:bodyPr>
          <a:lstStyle/>
          <a:p>
            <a:pPr algn="ctr">
              <a:defRPr sz="3600" b="1">
                <a:solidFill>
                  <a:srgbClr val="FFFFFF"/>
                </a:solidFill>
                <a:latin typeface="Calibri"/>
              </a:defRPr>
            </a:pPr>
            <a:r>
              <a:t>Association Between Body Mass Index</a:t>
            </a:r>
            <a:br/>
            <a:r>
              <a:t>and Diabetes Mellitus in US Adults</a:t>
            </a:r>
          </a:p>
        </p:txBody>
      </p:sp>
      <p:sp>
        <p:nvSpPr>
          <p:cNvPr id="5" name="TextBox 4"/>
          <p:cNvSpPr txBox="1"/>
          <p:nvPr/>
        </p:nvSpPr>
        <p:spPr>
          <a:xfrm>
            <a:off x="914400" y="3200400"/>
            <a:ext cx="10058400" cy="1371600"/>
          </a:xfrm>
          <a:prstGeom prst="rect">
            <a:avLst/>
          </a:prstGeom>
          <a:noFill/>
        </p:spPr>
        <p:txBody>
          <a:bodyPr wrap="square">
            <a:spAutoFit/>
          </a:bodyPr>
          <a:lstStyle/>
          <a:p>
            <a:pPr algn="ctr">
              <a:defRPr sz="2400">
                <a:solidFill>
                  <a:srgbClr val="0072B2"/>
                </a:solidFill>
                <a:latin typeface="Calibri"/>
              </a:defRPr>
            </a:pPr>
            <a:r>
              <a:t>A Cross-Sectional Analysis of NHANES 2017-2018</a:t>
            </a:r>
          </a:p>
        </p:txBody>
      </p:sp>
      <p:sp>
        <p:nvSpPr>
          <p:cNvPr id="6" name="TextBox 5"/>
          <p:cNvSpPr txBox="1"/>
          <p:nvPr/>
        </p:nvSpPr>
        <p:spPr>
          <a:xfrm>
            <a:off x="914400" y="5029200"/>
            <a:ext cx="10058400" cy="914400"/>
          </a:xfrm>
          <a:prstGeom prst="rect">
            <a:avLst/>
          </a:prstGeom>
          <a:noFill/>
        </p:spPr>
        <p:txBody>
          <a:bodyPr wrap="square">
            <a:spAutoFit/>
          </a:bodyPr>
          <a:lstStyle/>
          <a:p>
            <a:pPr algn="ctr">
              <a:defRPr sz="1600">
                <a:solidFill>
                  <a:srgbClr val="AAAAAA"/>
                </a:solidFill>
                <a:latin typeface="Calibri"/>
              </a:defRPr>
            </a:pPr>
            <a:r>
              <a:t>Data source: CDC National Health and Nutrition Examination Survey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Background</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4754880"/>
          </a:xfrm>
          <a:prstGeom prst="rect">
            <a:avLst/>
          </a:prstGeom>
          <a:noFill/>
        </p:spPr>
        <p:txBody>
          <a:bodyPr wrap="square">
            <a:spAutoFit/>
          </a:bodyPr>
          <a:lstStyle/>
          <a:p>
            <a:pPr>
              <a:spcAft>
                <a:spcPts val="1200"/>
              </a:spcAft>
              <a:defRPr sz="2200">
                <a:solidFill>
                  <a:srgbClr val="333333"/>
                </a:solidFill>
                <a:latin typeface="Calibri"/>
              </a:defRPr>
            </a:pPr>
            <a:r>
              <a:t>Diabetes affects 537 million adults globally (IDF 2021)</a:t>
            </a:r>
          </a:p>
          <a:p>
            <a:pPr>
              <a:spcAft>
                <a:spcPts val="1200"/>
              </a:spcAft>
              <a:defRPr sz="2200">
                <a:solidFill>
                  <a:srgbClr val="333333"/>
                </a:solidFill>
                <a:latin typeface="Calibri"/>
              </a:defRPr>
            </a:pPr>
            <a:r>
              <a:t>37.3 million Americans have diabetes; 90-95% are type 2</a:t>
            </a:r>
          </a:p>
          <a:p>
            <a:pPr>
              <a:spcAft>
                <a:spcPts val="1200"/>
              </a:spcAft>
              <a:defRPr sz="2200">
                <a:solidFill>
                  <a:srgbClr val="333333"/>
                </a:solidFill>
                <a:latin typeface="Calibri"/>
              </a:defRPr>
            </a:pPr>
            <a:r>
              <a:t>Obesity is the most important modifiable risk factor for T2DM</a:t>
            </a:r>
          </a:p>
          <a:p>
            <a:pPr>
              <a:spcAft>
                <a:spcPts val="1200"/>
              </a:spcAft>
              <a:defRPr sz="2200">
                <a:solidFill>
                  <a:srgbClr val="333333"/>
                </a:solidFill>
                <a:latin typeface="Calibri"/>
              </a:defRPr>
            </a:pPr>
            <a:r>
              <a:t>NHANES provides nationally representative US health data</a:t>
            </a:r>
          </a:p>
          <a:p>
            <a:pPr>
              <a:spcAft>
                <a:spcPts val="1200"/>
              </a:spcAft>
              <a:defRPr sz="2200">
                <a:solidFill>
                  <a:srgbClr val="333333"/>
                </a:solidFill>
                <a:latin typeface="Calibri"/>
              </a:defRPr>
            </a:pPr>
            <a:r>
              <a:t>Complex survey design requires weighted analysis for valid estimates</a:t>
            </a:r>
          </a:p>
          <a:p>
            <a:pPr>
              <a:spcAft>
                <a:spcPts val="1200"/>
              </a:spcAft>
              <a:defRPr sz="2200">
                <a:solidFill>
                  <a:srgbClr val="333333"/>
                </a:solidFill>
                <a:latin typeface="Calibri"/>
              </a:defRPr>
            </a:pPr>
            <a:r>
              <a:t>Continued surveillance is essential for tracking disparities</a:t>
            </a:r>
          </a:p>
        </p:txBody>
      </p:sp>
      <p:sp>
        <p:nvSpPr>
          <p:cNvPr id="6" name="TextBox 5"/>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Study Objectives</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4754880"/>
          </a:xfrm>
          <a:prstGeom prst="rect">
            <a:avLst/>
          </a:prstGeom>
          <a:noFill/>
        </p:spPr>
        <p:txBody>
          <a:bodyPr wrap="square">
            <a:spAutoFit/>
          </a:bodyPr>
          <a:lstStyle/>
          <a:p>
            <a:pPr>
              <a:spcAft>
                <a:spcPts val="1200"/>
              </a:spcAft>
              <a:defRPr sz="2200">
                <a:solidFill>
                  <a:srgbClr val="333333"/>
                </a:solidFill>
                <a:latin typeface="Calibri"/>
              </a:defRPr>
            </a:pPr>
            <a:r>
              <a:t>Primary: Quantify the association between BMI categories and diabetes</a:t>
            </a:r>
          </a:p>
          <a:p>
            <a:pPr>
              <a:spcAft>
                <a:spcPts val="1200"/>
              </a:spcAft>
              <a:defRPr sz="2200">
                <a:solidFill>
                  <a:srgbClr val="333333"/>
                </a:solidFill>
                <a:latin typeface="Calibri"/>
              </a:defRPr>
            </a:pPr>
            <a:r>
              <a:t>  prevalence in US adults using NHANES 2017-2018</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Secondary objectives:</a:t>
            </a:r>
          </a:p>
          <a:p>
            <a:pPr>
              <a:spcAft>
                <a:spcPts val="1200"/>
              </a:spcAft>
              <a:defRPr sz="2200">
                <a:solidFill>
                  <a:srgbClr val="333333"/>
                </a:solidFill>
                <a:latin typeface="Calibri"/>
              </a:defRPr>
            </a:pPr>
            <a:r>
              <a:t>  1. Estimate survey-weighted diabetes prevalence by BMI category</a:t>
            </a:r>
          </a:p>
          <a:p>
            <a:pPr>
              <a:spcAft>
                <a:spcPts val="1200"/>
              </a:spcAft>
              <a:defRPr sz="2200">
                <a:solidFill>
                  <a:srgbClr val="333333"/>
                </a:solidFill>
                <a:latin typeface="Calibri"/>
              </a:defRPr>
            </a:pPr>
            <a:r>
              <a:t>  2. Calculate adjusted odds ratios controlling for demographics</a:t>
            </a:r>
          </a:p>
          <a:p>
            <a:pPr>
              <a:spcAft>
                <a:spcPts val="1200"/>
              </a:spcAft>
              <a:defRPr sz="2200">
                <a:solidFill>
                  <a:srgbClr val="333333"/>
                </a:solidFill>
                <a:latin typeface="Calibri"/>
              </a:defRPr>
            </a:pPr>
            <a:r>
              <a:t>  3. Examine racial/ethnic disparities in the BMI-diabetes relationship</a:t>
            </a:r>
          </a:p>
          <a:p>
            <a:pPr>
              <a:spcAft>
                <a:spcPts val="1200"/>
              </a:spcAft>
              <a:defRPr sz="2200">
                <a:solidFill>
                  <a:srgbClr val="333333"/>
                </a:solidFill>
                <a:latin typeface="Calibri"/>
              </a:defRPr>
            </a:pPr>
            <a:r>
              <a:t>  4. Demonstrate the impact of survey weights on prevalence estimates</a:t>
            </a:r>
          </a:p>
        </p:txBody>
      </p:sp>
      <p:sp>
        <p:nvSpPr>
          <p:cNvPr id="6" name="TextBox 5"/>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Methods</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4754880"/>
          </a:xfrm>
          <a:prstGeom prst="rect">
            <a:avLst/>
          </a:prstGeom>
          <a:noFill/>
        </p:spPr>
        <p:txBody>
          <a:bodyPr wrap="square">
            <a:spAutoFit/>
          </a:bodyPr>
          <a:lstStyle/>
          <a:p>
            <a:pPr>
              <a:spcAft>
                <a:spcPts val="1200"/>
              </a:spcAft>
              <a:defRPr sz="2200">
                <a:solidFill>
                  <a:srgbClr val="333333"/>
                </a:solidFill>
                <a:latin typeface="Calibri"/>
              </a:defRPr>
            </a:pPr>
            <a:r>
              <a:t>Design: Cross-sectional analysis of NHANES 2017-2018</a:t>
            </a:r>
          </a:p>
          <a:p>
            <a:pPr>
              <a:spcAft>
                <a:spcPts val="1200"/>
              </a:spcAft>
              <a:defRPr sz="2200">
                <a:solidFill>
                  <a:srgbClr val="333333"/>
                </a:solidFill>
                <a:latin typeface="Calibri"/>
              </a:defRPr>
            </a:pPr>
            <a:r>
              <a:t>Population: US adults aged &gt;= 20 years (n = 4,866)</a:t>
            </a:r>
          </a:p>
          <a:p>
            <a:pPr>
              <a:spcAft>
                <a:spcPts val="1200"/>
              </a:spcAft>
              <a:defRPr sz="2200">
                <a:solidFill>
                  <a:srgbClr val="333333"/>
                </a:solidFill>
                <a:latin typeface="Calibri"/>
              </a:defRPr>
            </a:pPr>
            <a:r>
              <a:t>Exposure: BMI (WHO categories: Normal, Overweight, Obese)</a:t>
            </a:r>
          </a:p>
          <a:p>
            <a:pPr>
              <a:spcAft>
                <a:spcPts val="1200"/>
              </a:spcAft>
              <a:defRPr sz="2200">
                <a:solidFill>
                  <a:srgbClr val="333333"/>
                </a:solidFill>
                <a:latin typeface="Calibri"/>
              </a:defRPr>
            </a:pPr>
            <a:r>
              <a:t>Outcome: Diabetes defined as HbA1c &gt;= 6.5% (ADA criteria)</a:t>
            </a:r>
          </a:p>
          <a:p>
            <a:pPr>
              <a:spcAft>
                <a:spcPts val="1200"/>
              </a:spcAft>
              <a:defRPr sz="2200">
                <a:solidFill>
                  <a:srgbClr val="333333"/>
                </a:solidFill>
                <a:latin typeface="Calibri"/>
              </a:defRPr>
            </a:pPr>
            <a:r>
              <a:t>Covariates: Age, sex, race/ethnicity, education level</a:t>
            </a:r>
          </a:p>
          <a:p>
            <a:pPr>
              <a:spcAft>
                <a:spcPts val="1200"/>
              </a:spcAft>
              <a:defRPr sz="2200">
                <a:solidFill>
                  <a:srgbClr val="333333"/>
                </a:solidFill>
                <a:latin typeface="Calibri"/>
              </a:defRPr>
            </a:pPr>
            <a:r>
              <a:t>Analysis: Survey-weighted logistic regression (WTMEC2YR)</a:t>
            </a:r>
          </a:p>
          <a:p>
            <a:pPr>
              <a:spcAft>
                <a:spcPts val="1200"/>
              </a:spcAft>
              <a:defRPr sz="2200">
                <a:solidFill>
                  <a:srgbClr val="333333"/>
                </a:solidFill>
                <a:latin typeface="Calibri"/>
              </a:defRPr>
            </a:pPr>
            <a:r>
              <a:t>  - Model 1: Unadjusted (BMI category only)</a:t>
            </a:r>
          </a:p>
          <a:p>
            <a:pPr>
              <a:spcAft>
                <a:spcPts val="1200"/>
              </a:spcAft>
              <a:defRPr sz="2200">
                <a:solidFill>
                  <a:srgbClr val="333333"/>
                </a:solidFill>
                <a:latin typeface="Calibri"/>
              </a:defRPr>
            </a:pPr>
            <a:r>
              <a:t>  - Model 2: Adjusted for all covariates</a:t>
            </a:r>
          </a:p>
        </p:txBody>
      </p:sp>
      <p:sp>
        <p:nvSpPr>
          <p:cNvPr id="6" name="TextBox 5"/>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Study Population (Table 1)</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371600"/>
          <a:ext cx="10515600" cy="365760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609600">
                <a:tc>
                  <a:txBody>
                    <a:bodyPr/>
                    <a:lstStyle/>
                    <a:p>
                      <a:pPr algn="ctr">
                        <a:defRPr sz="1600" b="1">
                          <a:solidFill>
                            <a:srgbClr val="FFFFFF"/>
                          </a:solidFill>
                          <a:latin typeface="Calibri"/>
                        </a:defRPr>
                      </a:pPr>
                    </a:p>
                  </a:txBody>
                  <a:tcPr anchor="ctr">
                    <a:solidFill>
                      <a:srgbClr val="1B2A4A"/>
                    </a:solidFill>
                  </a:tcPr>
                </a:tc>
                <a:tc>
                  <a:txBody>
                    <a:bodyPr/>
                    <a:lstStyle/>
                    <a:p>
                      <a:pPr algn="ctr">
                        <a:defRPr sz="1600" b="1">
                          <a:solidFill>
                            <a:srgbClr val="FFFFFF"/>
                          </a:solidFill>
                          <a:latin typeface="Calibri"/>
                        </a:defRPr>
                      </a:pPr>
                      <a:r>
                        <a:t>Normal</a:t>
                      </a:r>
                    </a:p>
                    <a:p>
                      <a:pPr algn="ctr">
                        <a:defRPr sz="1600" b="1">
                          <a:solidFill>
                            <a:srgbClr val="FFFFFF"/>
                          </a:solidFill>
                          <a:latin typeface="Calibri"/>
                        </a:defRPr>
                      </a:pPr>
                      <a:r>
                        <a:t>(n=1,189)</a:t>
                      </a:r>
                    </a:p>
                  </a:txBody>
                  <a:tcPr anchor="ctr">
                    <a:solidFill>
                      <a:srgbClr val="1B2A4A"/>
                    </a:solidFill>
                  </a:tcPr>
                </a:tc>
                <a:tc>
                  <a:txBody>
                    <a:bodyPr/>
                    <a:lstStyle/>
                    <a:p>
                      <a:pPr algn="ctr">
                        <a:defRPr sz="1600" b="1">
                          <a:solidFill>
                            <a:srgbClr val="FFFFFF"/>
                          </a:solidFill>
                          <a:latin typeface="Calibri"/>
                        </a:defRPr>
                      </a:pPr>
                      <a:r>
                        <a:t>Overweight</a:t>
                      </a:r>
                    </a:p>
                    <a:p>
                      <a:pPr algn="ctr">
                        <a:defRPr sz="1600" b="1">
                          <a:solidFill>
                            <a:srgbClr val="FFFFFF"/>
                          </a:solidFill>
                          <a:latin typeface="Calibri"/>
                        </a:defRPr>
                      </a:pPr>
                      <a:r>
                        <a:t>(n=1,593)</a:t>
                      </a:r>
                    </a:p>
                  </a:txBody>
                  <a:tcPr anchor="ctr">
                    <a:solidFill>
                      <a:srgbClr val="1B2A4A"/>
                    </a:solidFill>
                  </a:tcPr>
                </a:tc>
                <a:tc>
                  <a:txBody>
                    <a:bodyPr/>
                    <a:lstStyle/>
                    <a:p>
                      <a:pPr algn="ctr">
                        <a:defRPr sz="1600" b="1">
                          <a:solidFill>
                            <a:srgbClr val="FFFFFF"/>
                          </a:solidFill>
                          <a:latin typeface="Calibri"/>
                        </a:defRPr>
                      </a:pPr>
                      <a:r>
                        <a:t>Obese</a:t>
                      </a:r>
                    </a:p>
                    <a:p>
                      <a:pPr algn="ctr">
                        <a:defRPr sz="1600" b="1">
                          <a:solidFill>
                            <a:srgbClr val="FFFFFF"/>
                          </a:solidFill>
                          <a:latin typeface="Calibri"/>
                        </a:defRPr>
                      </a:pPr>
                      <a:r>
                        <a:t>(n=2,084)</a:t>
                      </a:r>
                    </a:p>
                  </a:txBody>
                  <a:tcPr anchor="ctr">
                    <a:solidFill>
                      <a:srgbClr val="1B2A4A"/>
                    </a:solidFill>
                  </a:tcPr>
                </a:tc>
                <a:tc>
                  <a:txBody>
                    <a:bodyPr/>
                    <a:lstStyle/>
                    <a:p>
                      <a:pPr algn="ctr">
                        <a:defRPr sz="1600" b="1">
                          <a:solidFill>
                            <a:srgbClr val="FFFFFF"/>
                          </a:solidFill>
                          <a:latin typeface="Calibri"/>
                        </a:defRPr>
                      </a:pPr>
                      <a:r>
                        <a:t>p-value</a:t>
                      </a:r>
                    </a:p>
                  </a:txBody>
                  <a:tcPr anchor="ctr">
                    <a:solidFill>
                      <a:srgbClr val="1B2A4A"/>
                    </a:solidFill>
                  </a:tcPr>
                </a:tc>
              </a:tr>
              <a:tr h="609600">
                <a:tc>
                  <a:txBody>
                    <a:bodyPr/>
                    <a:lstStyle/>
                    <a:p>
                      <a:pPr algn="l">
                        <a:defRPr sz="1600" b="1">
                          <a:solidFill>
                            <a:srgbClr val="333333"/>
                          </a:solidFill>
                          <a:latin typeface="Calibri"/>
                        </a:defRPr>
                      </a:pPr>
                      <a:r>
                        <a:t>Age (years)</a:t>
                      </a:r>
                    </a:p>
                  </a:txBody>
                  <a:tcPr anchor="ctr"/>
                </a:tc>
                <a:tc>
                  <a:txBody>
                    <a:bodyPr/>
                    <a:lstStyle/>
                    <a:p>
                      <a:pPr algn="ctr">
                        <a:defRPr sz="1600">
                          <a:solidFill>
                            <a:srgbClr val="333333"/>
                          </a:solidFill>
                          <a:latin typeface="Calibri"/>
                        </a:defRPr>
                      </a:pPr>
                      <a:r>
                        <a:t>49.5 +/- 19.3</a:t>
                      </a:r>
                    </a:p>
                  </a:txBody>
                  <a:tcPr anchor="ctr"/>
                </a:tc>
                <a:tc>
                  <a:txBody>
                    <a:bodyPr/>
                    <a:lstStyle/>
                    <a:p>
                      <a:pPr algn="ctr">
                        <a:defRPr sz="1600">
                          <a:solidFill>
                            <a:srgbClr val="333333"/>
                          </a:solidFill>
                          <a:latin typeface="Calibri"/>
                        </a:defRPr>
                      </a:pPr>
                      <a:r>
                        <a:t>53.5 +/- 17.1</a:t>
                      </a:r>
                    </a:p>
                  </a:txBody>
                  <a:tcPr anchor="ctr"/>
                </a:tc>
                <a:tc>
                  <a:txBody>
                    <a:bodyPr/>
                    <a:lstStyle/>
                    <a:p>
                      <a:pPr algn="ctr">
                        <a:defRPr sz="1600">
                          <a:solidFill>
                            <a:srgbClr val="333333"/>
                          </a:solidFill>
                          <a:latin typeface="Calibri"/>
                        </a:defRPr>
                      </a:pPr>
                      <a:r>
                        <a:t>51.2 +/- 16.7</a:t>
                      </a:r>
                    </a:p>
                  </a:txBody>
                  <a:tcPr anchor="ctr"/>
                </a:tc>
                <a:tc>
                  <a:txBody>
                    <a:bodyPr/>
                    <a:lstStyle/>
                    <a:p>
                      <a:pPr algn="ctr">
                        <a:defRPr sz="1600">
                          <a:solidFill>
                            <a:srgbClr val="333333"/>
                          </a:solidFill>
                          <a:latin typeface="Calibri"/>
                        </a:defRPr>
                      </a:pPr>
                      <a:r>
                        <a:t>&lt;0.001</a:t>
                      </a:r>
                    </a:p>
                  </a:txBody>
                  <a:tcPr anchor="ctr"/>
                </a:tc>
              </a:tr>
              <a:tr h="609600">
                <a:tc>
                  <a:txBody>
                    <a:bodyPr/>
                    <a:lstStyle/>
                    <a:p>
                      <a:pPr algn="l">
                        <a:defRPr sz="1600" b="1">
                          <a:solidFill>
                            <a:srgbClr val="333333"/>
                          </a:solidFill>
                          <a:latin typeface="Calibri"/>
                        </a:defRPr>
                      </a:pPr>
                      <a:r>
                        <a:t>Female, %</a:t>
                      </a:r>
                    </a:p>
                  </a:txBody>
                  <a:tcPr anchor="ctr"/>
                </a:tc>
                <a:tc>
                  <a:txBody>
                    <a:bodyPr/>
                    <a:lstStyle/>
                    <a:p>
                      <a:pPr algn="ctr">
                        <a:defRPr sz="1600">
                          <a:solidFill>
                            <a:srgbClr val="333333"/>
                          </a:solidFill>
                          <a:latin typeface="Calibri"/>
                        </a:defRPr>
                      </a:pPr>
                      <a:r>
                        <a:t>54.4%</a:t>
                      </a:r>
                    </a:p>
                  </a:txBody>
                  <a:tcPr anchor="ctr"/>
                </a:tc>
                <a:tc>
                  <a:txBody>
                    <a:bodyPr/>
                    <a:lstStyle/>
                    <a:p>
                      <a:pPr algn="ctr">
                        <a:defRPr sz="1600">
                          <a:solidFill>
                            <a:srgbClr val="333333"/>
                          </a:solidFill>
                          <a:latin typeface="Calibri"/>
                        </a:defRPr>
                      </a:pPr>
                      <a:r>
                        <a:t>46.3%</a:t>
                      </a:r>
                    </a:p>
                  </a:txBody>
                  <a:tcPr anchor="ctr"/>
                </a:tc>
                <a:tc>
                  <a:txBody>
                    <a:bodyPr/>
                    <a:lstStyle/>
                    <a:p>
                      <a:pPr algn="ctr">
                        <a:defRPr sz="1600">
                          <a:solidFill>
                            <a:srgbClr val="333333"/>
                          </a:solidFill>
                          <a:latin typeface="Calibri"/>
                        </a:defRPr>
                      </a:pPr>
                      <a:r>
                        <a:t>54.8%</a:t>
                      </a:r>
                    </a:p>
                  </a:txBody>
                  <a:tcPr anchor="ctr"/>
                </a:tc>
                <a:tc>
                  <a:txBody>
                    <a:bodyPr/>
                    <a:lstStyle/>
                    <a:p>
                      <a:pPr algn="ctr">
                        <a:defRPr sz="1600">
                          <a:solidFill>
                            <a:srgbClr val="333333"/>
                          </a:solidFill>
                          <a:latin typeface="Calibri"/>
                        </a:defRPr>
                      </a:pPr>
                      <a:r>
                        <a:t>&lt;0.001</a:t>
                      </a:r>
                    </a:p>
                  </a:txBody>
                  <a:tcPr anchor="ctr"/>
                </a:tc>
              </a:tr>
              <a:tr h="609600">
                <a:tc>
                  <a:txBody>
                    <a:bodyPr/>
                    <a:lstStyle/>
                    <a:p>
                      <a:pPr algn="l">
                        <a:defRPr sz="1600" b="1">
                          <a:solidFill>
                            <a:srgbClr val="333333"/>
                          </a:solidFill>
                          <a:latin typeface="Calibri"/>
                        </a:defRPr>
                      </a:pPr>
                      <a:r>
                        <a:t>BMI (kg/m2)</a:t>
                      </a:r>
                    </a:p>
                  </a:txBody>
                  <a:tcPr anchor="ctr"/>
                </a:tc>
                <a:tc>
                  <a:txBody>
                    <a:bodyPr/>
                    <a:lstStyle/>
                    <a:p>
                      <a:pPr algn="ctr">
                        <a:defRPr sz="1600">
                          <a:solidFill>
                            <a:srgbClr val="333333"/>
                          </a:solidFill>
                          <a:latin typeface="Calibri"/>
                        </a:defRPr>
                      </a:pPr>
                      <a:r>
                        <a:t>22.4 +/- 1.7</a:t>
                      </a:r>
                    </a:p>
                  </a:txBody>
                  <a:tcPr anchor="ctr"/>
                </a:tc>
                <a:tc>
                  <a:txBody>
                    <a:bodyPr/>
                    <a:lstStyle/>
                    <a:p>
                      <a:pPr algn="ctr">
                        <a:defRPr sz="1600">
                          <a:solidFill>
                            <a:srgbClr val="333333"/>
                          </a:solidFill>
                          <a:latin typeface="Calibri"/>
                        </a:defRPr>
                      </a:pPr>
                      <a:r>
                        <a:t>27.4 +/- 1.4</a:t>
                      </a:r>
                    </a:p>
                  </a:txBody>
                  <a:tcPr anchor="ctr"/>
                </a:tc>
                <a:tc>
                  <a:txBody>
                    <a:bodyPr/>
                    <a:lstStyle/>
                    <a:p>
                      <a:pPr algn="ctr">
                        <a:defRPr sz="1600">
                          <a:solidFill>
                            <a:srgbClr val="333333"/>
                          </a:solidFill>
                          <a:latin typeface="Calibri"/>
                        </a:defRPr>
                      </a:pPr>
                      <a:r>
                        <a:t>36.5 +/- 6.3</a:t>
                      </a:r>
                    </a:p>
                  </a:txBody>
                  <a:tcPr anchor="ctr"/>
                </a:tc>
                <a:tc>
                  <a:txBody>
                    <a:bodyPr/>
                    <a:lstStyle/>
                    <a:p>
                      <a:pPr algn="ctr">
                        <a:defRPr sz="1600">
                          <a:solidFill>
                            <a:srgbClr val="333333"/>
                          </a:solidFill>
                          <a:latin typeface="Calibri"/>
                        </a:defRPr>
                      </a:pPr>
                      <a:r>
                        <a:t>&lt;0.001</a:t>
                      </a:r>
                    </a:p>
                  </a:txBody>
                  <a:tcPr anchor="ctr"/>
                </a:tc>
              </a:tr>
              <a:tr h="609600">
                <a:tc>
                  <a:txBody>
                    <a:bodyPr/>
                    <a:lstStyle/>
                    <a:p>
                      <a:pPr algn="l">
                        <a:defRPr sz="1600" b="1">
                          <a:solidFill>
                            <a:srgbClr val="333333"/>
                          </a:solidFill>
                          <a:latin typeface="Calibri"/>
                        </a:defRPr>
                      </a:pPr>
                      <a:r>
                        <a:t>HbA1c (%)</a:t>
                      </a:r>
                    </a:p>
                  </a:txBody>
                  <a:tcPr anchor="ctr"/>
                </a:tc>
                <a:tc>
                  <a:txBody>
                    <a:bodyPr/>
                    <a:lstStyle/>
                    <a:p>
                      <a:pPr algn="ctr">
                        <a:defRPr sz="1600">
                          <a:solidFill>
                            <a:srgbClr val="333333"/>
                          </a:solidFill>
                          <a:latin typeface="Calibri"/>
                        </a:defRPr>
                      </a:pPr>
                      <a:r>
                        <a:t>5.60 +/- 0.88</a:t>
                      </a:r>
                    </a:p>
                  </a:txBody>
                  <a:tcPr anchor="ctr"/>
                </a:tc>
                <a:tc>
                  <a:txBody>
                    <a:bodyPr/>
                    <a:lstStyle/>
                    <a:p>
                      <a:pPr algn="ctr">
                        <a:defRPr sz="1600">
                          <a:solidFill>
                            <a:srgbClr val="333333"/>
                          </a:solidFill>
                          <a:latin typeface="Calibri"/>
                        </a:defRPr>
                      </a:pPr>
                      <a:r>
                        <a:t>5.85 +/- 1.12</a:t>
                      </a:r>
                    </a:p>
                  </a:txBody>
                  <a:tcPr anchor="ctr"/>
                </a:tc>
                <a:tc>
                  <a:txBody>
                    <a:bodyPr/>
                    <a:lstStyle/>
                    <a:p>
                      <a:pPr algn="ctr">
                        <a:defRPr sz="1600">
                          <a:solidFill>
                            <a:srgbClr val="333333"/>
                          </a:solidFill>
                          <a:latin typeface="Calibri"/>
                        </a:defRPr>
                      </a:pPr>
                      <a:r>
                        <a:t>6.05 +/- 1.17</a:t>
                      </a:r>
                    </a:p>
                  </a:txBody>
                  <a:tcPr anchor="ctr"/>
                </a:tc>
                <a:tc>
                  <a:txBody>
                    <a:bodyPr/>
                    <a:lstStyle/>
                    <a:p>
                      <a:pPr algn="ctr">
                        <a:defRPr sz="1600">
                          <a:solidFill>
                            <a:srgbClr val="333333"/>
                          </a:solidFill>
                          <a:latin typeface="Calibri"/>
                        </a:defRPr>
                      </a:pPr>
                      <a:r>
                        <a:t>&lt;0.001</a:t>
                      </a:r>
                    </a:p>
                  </a:txBody>
                  <a:tcPr anchor="ctr"/>
                </a:tc>
              </a:tr>
              <a:tr h="609600">
                <a:tc>
                  <a:txBody>
                    <a:bodyPr/>
                    <a:lstStyle/>
                    <a:p>
                      <a:pPr algn="l">
                        <a:defRPr sz="1600" b="1">
                          <a:solidFill>
                            <a:srgbClr val="333333"/>
                          </a:solidFill>
                          <a:latin typeface="Calibri"/>
                        </a:defRPr>
                      </a:pPr>
                      <a:r>
                        <a:t>Diabetes, %</a:t>
                      </a:r>
                    </a:p>
                  </a:txBody>
                  <a:tcPr anchor="ctr"/>
                </a:tc>
                <a:tc>
                  <a:txBody>
                    <a:bodyPr/>
                    <a:lstStyle/>
                    <a:p>
                      <a:pPr algn="ctr">
                        <a:defRPr sz="1600">
                          <a:solidFill>
                            <a:srgbClr val="333333"/>
                          </a:solidFill>
                          <a:latin typeface="Calibri"/>
                        </a:defRPr>
                      </a:pPr>
                      <a:r>
                        <a:t>7.5%</a:t>
                      </a:r>
                    </a:p>
                  </a:txBody>
                  <a:tcPr anchor="ctr"/>
                </a:tc>
                <a:tc>
                  <a:txBody>
                    <a:bodyPr/>
                    <a:lstStyle/>
                    <a:p>
                      <a:pPr algn="ctr">
                        <a:defRPr sz="1600">
                          <a:solidFill>
                            <a:srgbClr val="333333"/>
                          </a:solidFill>
                          <a:latin typeface="Calibri"/>
                        </a:defRPr>
                      </a:pPr>
                      <a:r>
                        <a:t>13.9%</a:t>
                      </a:r>
                    </a:p>
                  </a:txBody>
                  <a:tcPr anchor="ctr"/>
                </a:tc>
                <a:tc>
                  <a:txBody>
                    <a:bodyPr/>
                    <a:lstStyle/>
                    <a:p>
                      <a:pPr algn="ctr">
                        <a:defRPr sz="1600">
                          <a:solidFill>
                            <a:srgbClr val="333333"/>
                          </a:solidFill>
                          <a:latin typeface="Calibri"/>
                        </a:defRPr>
                      </a:pPr>
                      <a:r>
                        <a:t>19.9%</a:t>
                      </a:r>
                    </a:p>
                  </a:txBody>
                  <a:tcPr anchor="ctr"/>
                </a:tc>
                <a:tc>
                  <a:txBody>
                    <a:bodyPr/>
                    <a:lstStyle/>
                    <a:p>
                      <a:pPr algn="ctr">
                        <a:defRPr sz="1600">
                          <a:solidFill>
                            <a:srgbClr val="333333"/>
                          </a:solidFill>
                          <a:latin typeface="Calibri"/>
                        </a:defRPr>
                      </a:pPr>
                      <a:r>
                        <a:t>&lt;0.001</a:t>
                      </a:r>
                    </a:p>
                  </a:txBody>
                  <a:tcPr anchor="ctr"/>
                </a:tc>
              </a:tr>
            </a:tbl>
          </a:graphicData>
        </a:graphic>
      </p:graphicFrame>
      <p:sp>
        <p:nvSpPr>
          <p:cNvPr id="6" name="TextBox 5"/>
          <p:cNvSpPr txBox="1"/>
          <p:nvPr/>
        </p:nvSpPr>
        <p:spPr>
          <a:xfrm>
            <a:off x="731520" y="5486400"/>
            <a:ext cx="10515600" cy="548640"/>
          </a:xfrm>
          <a:prstGeom prst="rect">
            <a:avLst/>
          </a:prstGeom>
          <a:noFill/>
        </p:spPr>
        <p:txBody>
          <a:bodyPr wrap="square">
            <a:spAutoFit/>
          </a:bodyPr>
          <a:lstStyle/>
          <a:p>
            <a:pPr>
              <a:spcAft>
                <a:spcPts val="800"/>
              </a:spcAft>
              <a:defRPr sz="1600" b="1">
                <a:solidFill>
                  <a:srgbClr val="0072B2"/>
                </a:solidFill>
                <a:latin typeface="Calibri"/>
              </a:defRPr>
            </a:pPr>
            <a:r>
              <a:t>Key: 42.8% of participants were obese; diabetes prevalence nearly tripled from normal to obese</a:t>
            </a:r>
          </a:p>
        </p:txBody>
      </p:sp>
      <p:sp>
        <p:nvSpPr>
          <p:cNvPr id="7" name="TextBox 6"/>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Diabetes Prevalence by BMI Category</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evalence_by_bmi.png"/>
          <p:cNvPicPr>
            <a:picLocks noChangeAspect="1"/>
          </p:cNvPicPr>
          <p:nvPr/>
        </p:nvPicPr>
        <p:blipFill>
          <a:blip r:embed="rId2"/>
          <a:stretch>
            <a:fillRect/>
          </a:stretch>
        </p:blipFill>
        <p:spPr>
          <a:xfrm>
            <a:off x="1371600" y="1371600"/>
            <a:ext cx="5029200" cy="3965199"/>
          </a:xfrm>
          <a:prstGeom prst="rect">
            <a:avLst/>
          </a:prstGeom>
        </p:spPr>
      </p:pic>
      <p:sp>
        <p:nvSpPr>
          <p:cNvPr id="6" name="TextBox 5"/>
          <p:cNvSpPr txBox="1"/>
          <p:nvPr/>
        </p:nvSpPr>
        <p:spPr>
          <a:xfrm>
            <a:off x="6858000" y="1371600"/>
            <a:ext cx="4572000" cy="4572000"/>
          </a:xfrm>
          <a:prstGeom prst="rect">
            <a:avLst/>
          </a:prstGeom>
          <a:noFill/>
        </p:spPr>
        <p:txBody>
          <a:bodyPr wrap="square">
            <a:spAutoFit/>
          </a:bodyPr>
          <a:lstStyle/>
          <a:p>
            <a:pPr>
              <a:spcAft>
                <a:spcPts val="800"/>
              </a:spcAft>
              <a:defRPr sz="1800" b="0">
                <a:solidFill>
                  <a:srgbClr val="333333"/>
                </a:solidFill>
                <a:latin typeface="Calibri"/>
              </a:defRPr>
            </a:pPr>
            <a:r>
              <a:t>Survey-Weighted Prevalence:</a:t>
            </a:r>
          </a:p>
          <a:p>
            <a:pPr>
              <a:spcAft>
                <a:spcPts val="800"/>
              </a:spcAft>
              <a:defRPr sz="1800" b="0">
                <a:solidFill>
                  <a:srgbClr val="333333"/>
                </a:solidFill>
                <a:latin typeface="Calibri"/>
              </a:defRPr>
            </a:pPr>
          </a:p>
          <a:p>
            <a:pPr>
              <a:spcAft>
                <a:spcPts val="800"/>
              </a:spcAft>
              <a:defRPr sz="1800" b="0">
                <a:solidFill>
                  <a:srgbClr val="333333"/>
                </a:solidFill>
                <a:latin typeface="Calibri"/>
              </a:defRPr>
            </a:pPr>
            <a:r>
              <a:t>Normal:       4.1% (6.1-9.1%)</a:t>
            </a:r>
          </a:p>
          <a:p>
            <a:pPr>
              <a:spcAft>
                <a:spcPts val="800"/>
              </a:spcAft>
              <a:defRPr sz="1800" b="0">
                <a:solidFill>
                  <a:srgbClr val="333333"/>
                </a:solidFill>
                <a:latin typeface="Calibri"/>
              </a:defRPr>
            </a:pPr>
            <a:r>
              <a:t>Overweight:  8.8% (12.3-15.7%)</a:t>
            </a:r>
          </a:p>
          <a:p>
            <a:pPr>
              <a:spcAft>
                <a:spcPts val="800"/>
              </a:spcAft>
              <a:defRPr sz="1800" b="0">
                <a:solidFill>
                  <a:srgbClr val="333333"/>
                </a:solidFill>
                <a:latin typeface="Calibri"/>
              </a:defRPr>
            </a:pPr>
            <a:r>
              <a:t>Obese:        14.7% (18.2-21.6%)</a:t>
            </a:r>
          </a:p>
          <a:p>
            <a:pPr>
              <a:spcAft>
                <a:spcPts val="800"/>
              </a:spcAft>
              <a:defRPr sz="1800" b="0">
                <a:solidFill>
                  <a:srgbClr val="333333"/>
                </a:solidFill>
                <a:latin typeface="Calibri"/>
              </a:defRPr>
            </a:pPr>
          </a:p>
          <a:p>
            <a:pPr>
              <a:spcAft>
                <a:spcPts val="800"/>
              </a:spcAft>
              <a:defRPr sz="1800" b="0">
                <a:solidFill>
                  <a:srgbClr val="333333"/>
                </a:solidFill>
                <a:latin typeface="Calibri"/>
              </a:defRPr>
            </a:pPr>
            <a:r>
              <a:t>Overall:       10.2% (13.9-15.9%)</a:t>
            </a:r>
          </a:p>
          <a:p>
            <a:pPr>
              <a:spcAft>
                <a:spcPts val="800"/>
              </a:spcAft>
              <a:defRPr sz="1800" b="0">
                <a:solidFill>
                  <a:srgbClr val="333333"/>
                </a:solidFill>
                <a:latin typeface="Calibri"/>
              </a:defRPr>
            </a:pPr>
          </a:p>
          <a:p>
            <a:pPr>
              <a:spcAft>
                <a:spcPts val="800"/>
              </a:spcAft>
              <a:defRPr sz="1800" b="0">
                <a:solidFill>
                  <a:srgbClr val="333333"/>
                </a:solidFill>
                <a:latin typeface="Calibri"/>
              </a:defRPr>
            </a:pPr>
            <a:r>
              <a:t>Unweighted overall: 14.9%</a:t>
            </a:r>
          </a:p>
          <a:p>
            <a:pPr>
              <a:spcAft>
                <a:spcPts val="800"/>
              </a:spcAft>
              <a:defRPr sz="1800" b="0">
                <a:solidFill>
                  <a:srgbClr val="333333"/>
                </a:solidFill>
                <a:latin typeface="Calibri"/>
              </a:defRPr>
            </a:pPr>
            <a:r>
              <a:t>(4.7 pp higher without weights)</a:t>
            </a:r>
          </a:p>
        </p:txBody>
      </p:sp>
      <p:sp>
        <p:nvSpPr>
          <p:cNvPr id="7" name="TextBox 6"/>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Adjusted Odds Ratios for Diabetes</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r_forest_plot.png"/>
          <p:cNvPicPr>
            <a:picLocks noChangeAspect="1"/>
          </p:cNvPicPr>
          <p:nvPr/>
        </p:nvPicPr>
        <p:blipFill>
          <a:blip r:embed="rId2"/>
          <a:stretch>
            <a:fillRect/>
          </a:stretch>
        </p:blipFill>
        <p:spPr>
          <a:xfrm>
            <a:off x="457200" y="1371600"/>
            <a:ext cx="6400800" cy="4160699"/>
          </a:xfrm>
          <a:prstGeom prst="rect">
            <a:avLst/>
          </a:prstGeom>
        </p:spPr>
      </p:pic>
      <p:sp>
        <p:nvSpPr>
          <p:cNvPr id="6" name="TextBox 5"/>
          <p:cNvSpPr txBox="1"/>
          <p:nvPr/>
        </p:nvSpPr>
        <p:spPr>
          <a:xfrm>
            <a:off x="7315200" y="1371600"/>
            <a:ext cx="4114800" cy="4572000"/>
          </a:xfrm>
          <a:prstGeom prst="rect">
            <a:avLst/>
          </a:prstGeom>
          <a:noFill/>
        </p:spPr>
        <p:txBody>
          <a:bodyPr wrap="square">
            <a:spAutoFit/>
          </a:bodyPr>
          <a:lstStyle/>
          <a:p>
            <a:pPr>
              <a:spcAft>
                <a:spcPts val="800"/>
              </a:spcAft>
              <a:defRPr sz="1700" b="0">
                <a:solidFill>
                  <a:srgbClr val="333333"/>
                </a:solidFill>
                <a:latin typeface="Calibri"/>
              </a:defRPr>
            </a:pPr>
            <a:r>
              <a:t>Key Adjusted ORs:</a:t>
            </a:r>
          </a:p>
          <a:p>
            <a:pPr>
              <a:spcAft>
                <a:spcPts val="800"/>
              </a:spcAft>
              <a:defRPr sz="1700" b="0">
                <a:solidFill>
                  <a:srgbClr val="333333"/>
                </a:solidFill>
                <a:latin typeface="Calibri"/>
              </a:defRPr>
            </a:pPr>
          </a:p>
          <a:p>
            <a:pPr>
              <a:spcAft>
                <a:spcPts val="800"/>
              </a:spcAft>
              <a:defRPr sz="1700" b="0">
                <a:solidFill>
                  <a:srgbClr val="333333"/>
                </a:solidFill>
                <a:latin typeface="Calibri"/>
              </a:defRPr>
            </a:pPr>
            <a:r>
              <a:t>Obese vs Normal:</a:t>
            </a:r>
          </a:p>
          <a:p>
            <a:pPr>
              <a:spcAft>
                <a:spcPts val="800"/>
              </a:spcAft>
              <a:defRPr sz="1700" b="0">
                <a:solidFill>
                  <a:srgbClr val="333333"/>
                </a:solidFill>
                <a:latin typeface="Calibri"/>
              </a:defRPr>
            </a:pPr>
            <a:r>
              <a:t>  OR 4.50 (4.49-4.51)</a:t>
            </a:r>
          </a:p>
          <a:p>
            <a:pPr>
              <a:spcAft>
                <a:spcPts val="800"/>
              </a:spcAft>
              <a:defRPr sz="1700" b="0">
                <a:solidFill>
                  <a:srgbClr val="333333"/>
                </a:solidFill>
                <a:latin typeface="Calibri"/>
              </a:defRPr>
            </a:pPr>
          </a:p>
          <a:p>
            <a:pPr>
              <a:spcAft>
                <a:spcPts val="800"/>
              </a:spcAft>
              <a:defRPr sz="1700" b="0">
                <a:solidFill>
                  <a:srgbClr val="333333"/>
                </a:solidFill>
                <a:latin typeface="Calibri"/>
              </a:defRPr>
            </a:pPr>
            <a:r>
              <a:t>Overweight vs Normal:</a:t>
            </a:r>
          </a:p>
          <a:p>
            <a:pPr>
              <a:spcAft>
                <a:spcPts val="800"/>
              </a:spcAft>
              <a:defRPr sz="1700" b="0">
                <a:solidFill>
                  <a:srgbClr val="333333"/>
                </a:solidFill>
                <a:latin typeface="Calibri"/>
              </a:defRPr>
            </a:pPr>
            <a:r>
              <a:t>  OR 2.06 (2.05-2.06)</a:t>
            </a:r>
          </a:p>
          <a:p>
            <a:pPr>
              <a:spcAft>
                <a:spcPts val="800"/>
              </a:spcAft>
              <a:defRPr sz="1700" b="0">
                <a:solidFill>
                  <a:srgbClr val="333333"/>
                </a:solidFill>
                <a:latin typeface="Calibri"/>
              </a:defRPr>
            </a:pPr>
          </a:p>
          <a:p>
            <a:pPr>
              <a:spcAft>
                <a:spcPts val="800"/>
              </a:spcAft>
              <a:defRPr sz="1700" b="0">
                <a:solidFill>
                  <a:srgbClr val="333333"/>
                </a:solidFill>
                <a:latin typeface="Calibri"/>
              </a:defRPr>
            </a:pPr>
            <a:r>
              <a:t>Age (per year):</a:t>
            </a:r>
          </a:p>
          <a:p>
            <a:pPr>
              <a:spcAft>
                <a:spcPts val="800"/>
              </a:spcAft>
              <a:defRPr sz="1700" b="0">
                <a:solidFill>
                  <a:srgbClr val="333333"/>
                </a:solidFill>
                <a:latin typeface="Calibri"/>
              </a:defRPr>
            </a:pPr>
            <a:r>
              <a:t>  OR 1.06 (1.06-1.06)</a:t>
            </a:r>
          </a:p>
          <a:p>
            <a:pPr>
              <a:spcAft>
                <a:spcPts val="800"/>
              </a:spcAft>
              <a:defRPr sz="1700" b="0">
                <a:solidFill>
                  <a:srgbClr val="333333"/>
                </a:solidFill>
                <a:latin typeface="Calibri"/>
              </a:defRPr>
            </a:pPr>
          </a:p>
          <a:p>
            <a:pPr>
              <a:spcAft>
                <a:spcPts val="800"/>
              </a:spcAft>
              <a:defRPr sz="1700" b="0">
                <a:solidFill>
                  <a:srgbClr val="333333"/>
                </a:solidFill>
                <a:latin typeface="Calibri"/>
              </a:defRPr>
            </a:pPr>
            <a:r>
              <a:t>Female vs Male:</a:t>
            </a:r>
          </a:p>
          <a:p>
            <a:pPr>
              <a:spcAft>
                <a:spcPts val="800"/>
              </a:spcAft>
              <a:defRPr sz="1700" b="0">
                <a:solidFill>
                  <a:srgbClr val="333333"/>
                </a:solidFill>
                <a:latin typeface="Calibri"/>
              </a:defRPr>
            </a:pPr>
            <a:r>
              <a:t>  OR 0.70 (0.70-0.70)</a:t>
            </a:r>
          </a:p>
          <a:p>
            <a:pPr>
              <a:spcAft>
                <a:spcPts val="800"/>
              </a:spcAft>
              <a:defRPr sz="1700" b="0">
                <a:solidFill>
                  <a:srgbClr val="333333"/>
                </a:solidFill>
                <a:latin typeface="Calibri"/>
              </a:defRPr>
            </a:pPr>
          </a:p>
          <a:p>
            <a:pPr>
              <a:spcAft>
                <a:spcPts val="800"/>
              </a:spcAft>
              <a:defRPr sz="1700" b="0">
                <a:solidFill>
                  <a:srgbClr val="333333"/>
                </a:solidFill>
                <a:latin typeface="Calibri"/>
              </a:defRPr>
            </a:pPr>
            <a:r>
              <a:t>All p &lt; 0.001</a:t>
            </a:r>
          </a:p>
        </p:txBody>
      </p:sp>
      <p:sp>
        <p:nvSpPr>
          <p:cNvPr id="7" name="TextBox 6"/>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Prevalence by Age Group and BMI</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evalence_by_age_bmi.png"/>
          <p:cNvPicPr>
            <a:picLocks noChangeAspect="1"/>
          </p:cNvPicPr>
          <p:nvPr/>
        </p:nvPicPr>
        <p:blipFill>
          <a:blip r:embed="rId2"/>
          <a:stretch>
            <a:fillRect/>
          </a:stretch>
        </p:blipFill>
        <p:spPr>
          <a:xfrm>
            <a:off x="1371600" y="1371600"/>
            <a:ext cx="5029200" cy="3293132"/>
          </a:xfrm>
          <a:prstGeom prst="rect">
            <a:avLst/>
          </a:prstGeom>
        </p:spPr>
      </p:pic>
      <p:sp>
        <p:nvSpPr>
          <p:cNvPr id="6" name="TextBox 5"/>
          <p:cNvSpPr txBox="1"/>
          <p:nvPr/>
        </p:nvSpPr>
        <p:spPr>
          <a:xfrm>
            <a:off x="6858000" y="1371600"/>
            <a:ext cx="4572000" cy="4572000"/>
          </a:xfrm>
          <a:prstGeom prst="rect">
            <a:avLst/>
          </a:prstGeom>
          <a:noFill/>
        </p:spPr>
        <p:txBody>
          <a:bodyPr wrap="square">
            <a:spAutoFit/>
          </a:bodyPr>
          <a:lstStyle/>
          <a:p>
            <a:pPr>
              <a:spcAft>
                <a:spcPts val="800"/>
              </a:spcAft>
              <a:defRPr sz="1800" b="0">
                <a:solidFill>
                  <a:srgbClr val="333333"/>
                </a:solidFill>
                <a:latin typeface="Calibri"/>
              </a:defRPr>
            </a:pPr>
            <a:r>
              <a:t>Key Observations:</a:t>
            </a:r>
          </a:p>
          <a:p>
            <a:pPr>
              <a:spcAft>
                <a:spcPts val="800"/>
              </a:spcAft>
              <a:defRPr sz="1800" b="0">
                <a:solidFill>
                  <a:srgbClr val="333333"/>
                </a:solidFill>
                <a:latin typeface="Calibri"/>
              </a:defRPr>
            </a:pPr>
          </a:p>
          <a:p>
            <a:pPr>
              <a:spcAft>
                <a:spcPts val="800"/>
              </a:spcAft>
              <a:defRPr sz="1800" b="0">
                <a:solidFill>
                  <a:srgbClr val="333333"/>
                </a:solidFill>
                <a:latin typeface="Calibri"/>
              </a:defRPr>
            </a:pPr>
            <a:r>
              <a:t>- Diabetes prevalence increases</a:t>
            </a:r>
          </a:p>
          <a:p>
            <a:pPr>
              <a:spcAft>
                <a:spcPts val="800"/>
              </a:spcAft>
              <a:defRPr sz="1800" b="0">
                <a:solidFill>
                  <a:srgbClr val="333333"/>
                </a:solidFill>
                <a:latin typeface="Calibri"/>
              </a:defRPr>
            </a:pPr>
            <a:r>
              <a:t>  with both age and BMI</a:t>
            </a:r>
          </a:p>
          <a:p>
            <a:pPr>
              <a:spcAft>
                <a:spcPts val="800"/>
              </a:spcAft>
              <a:defRPr sz="1800" b="0">
                <a:solidFill>
                  <a:srgbClr val="333333"/>
                </a:solidFill>
                <a:latin typeface="Calibri"/>
              </a:defRPr>
            </a:pPr>
          </a:p>
          <a:p>
            <a:pPr>
              <a:spcAft>
                <a:spcPts val="800"/>
              </a:spcAft>
              <a:defRPr sz="1800" b="0">
                <a:solidFill>
                  <a:srgbClr val="333333"/>
                </a:solidFill>
                <a:latin typeface="Calibri"/>
              </a:defRPr>
            </a:pPr>
            <a:r>
              <a:t>- Even in young adults (20-39),</a:t>
            </a:r>
          </a:p>
          <a:p>
            <a:pPr>
              <a:spcAft>
                <a:spcPts val="800"/>
              </a:spcAft>
              <a:defRPr sz="1800" b="0">
                <a:solidFill>
                  <a:srgbClr val="333333"/>
                </a:solidFill>
                <a:latin typeface="Calibri"/>
              </a:defRPr>
            </a:pPr>
            <a:r>
              <a:t>  obesity elevates risk</a:t>
            </a:r>
          </a:p>
          <a:p>
            <a:pPr>
              <a:spcAft>
                <a:spcPts val="800"/>
              </a:spcAft>
              <a:defRPr sz="1800" b="0">
                <a:solidFill>
                  <a:srgbClr val="333333"/>
                </a:solidFill>
                <a:latin typeface="Calibri"/>
              </a:defRPr>
            </a:pPr>
          </a:p>
          <a:p>
            <a:pPr>
              <a:spcAft>
                <a:spcPts val="800"/>
              </a:spcAft>
              <a:defRPr sz="1800" b="0">
                <a:solidFill>
                  <a:srgbClr val="333333"/>
                </a:solidFill>
                <a:latin typeface="Calibri"/>
              </a:defRPr>
            </a:pPr>
            <a:r>
              <a:t>- Strongest absolute difference</a:t>
            </a:r>
          </a:p>
          <a:p>
            <a:pPr>
              <a:spcAft>
                <a:spcPts val="800"/>
              </a:spcAft>
              <a:defRPr sz="1800" b="0">
                <a:solidFill>
                  <a:srgbClr val="333333"/>
                </a:solidFill>
                <a:latin typeface="Calibri"/>
              </a:defRPr>
            </a:pPr>
            <a:r>
              <a:t>  in the 60-79 age group</a:t>
            </a:r>
          </a:p>
          <a:p>
            <a:pPr>
              <a:spcAft>
                <a:spcPts val="800"/>
              </a:spcAft>
              <a:defRPr sz="1800" b="0">
                <a:solidFill>
                  <a:srgbClr val="333333"/>
                </a:solidFill>
                <a:latin typeface="Calibri"/>
              </a:defRPr>
            </a:pPr>
          </a:p>
          <a:p>
            <a:pPr>
              <a:spcAft>
                <a:spcPts val="800"/>
              </a:spcAft>
              <a:defRPr sz="1800" b="0">
                <a:solidFill>
                  <a:srgbClr val="333333"/>
                </a:solidFill>
                <a:latin typeface="Calibri"/>
              </a:defRPr>
            </a:pPr>
            <a:r>
              <a:t>- Consistent dose-response</a:t>
            </a:r>
          </a:p>
          <a:p>
            <a:pPr>
              <a:spcAft>
                <a:spcPts val="800"/>
              </a:spcAft>
              <a:defRPr sz="1800" b="0">
                <a:solidFill>
                  <a:srgbClr val="333333"/>
                </a:solidFill>
                <a:latin typeface="Calibri"/>
              </a:defRPr>
            </a:pPr>
            <a:r>
              <a:t>  pattern across all age strata</a:t>
            </a:r>
          </a:p>
        </p:txBody>
      </p:sp>
      <p:sp>
        <p:nvSpPr>
          <p:cNvPr id="7" name="TextBox 6"/>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Racial/Ethnic Disparities</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4754880"/>
          </a:xfrm>
          <a:prstGeom prst="rect">
            <a:avLst/>
          </a:prstGeom>
          <a:noFill/>
        </p:spPr>
        <p:txBody>
          <a:bodyPr wrap="square">
            <a:spAutoFit/>
          </a:bodyPr>
          <a:lstStyle/>
          <a:p>
            <a:pPr>
              <a:spcAft>
                <a:spcPts val="1200"/>
              </a:spcAft>
              <a:defRPr sz="2200">
                <a:solidFill>
                  <a:srgbClr val="333333"/>
                </a:solidFill>
                <a:latin typeface="Calibri"/>
              </a:defRPr>
            </a:pPr>
            <a:r>
              <a:t>Adjusted ORs compared with Non-Hispanic White:</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  Non-Hispanic Asian:        OR 2.97 (2.96-2.97)</a:t>
            </a:r>
          </a:p>
          <a:p>
            <a:pPr>
              <a:spcAft>
                <a:spcPts val="1200"/>
              </a:spcAft>
              <a:defRPr sz="2200">
                <a:solidFill>
                  <a:srgbClr val="333333"/>
                </a:solidFill>
                <a:latin typeface="Calibri"/>
              </a:defRPr>
            </a:pPr>
            <a:r>
              <a:t>  Non-Hispanic Black:        OR 1.84 (1.83-1.84)</a:t>
            </a:r>
          </a:p>
          <a:p>
            <a:pPr>
              <a:spcAft>
                <a:spcPts val="1200"/>
              </a:spcAft>
              <a:defRPr sz="2200">
                <a:solidFill>
                  <a:srgbClr val="333333"/>
                </a:solidFill>
                <a:latin typeface="Calibri"/>
              </a:defRPr>
            </a:pPr>
            <a:r>
              <a:t>  Mexican American:           OR 1.58 (1.57-1.58)</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NH Asian: highest adjusted risk despite lowest mean BMI</a:t>
            </a:r>
          </a:p>
          <a:p>
            <a:pPr>
              <a:spcAft>
                <a:spcPts val="1200"/>
              </a:spcAft>
              <a:defRPr sz="2200">
                <a:solidFill>
                  <a:srgbClr val="333333"/>
                </a:solidFill>
                <a:latin typeface="Calibri"/>
              </a:defRPr>
            </a:pPr>
            <a:r>
              <a:t>  - Supports ethnicity-specific BMI thresholds (WHO 2004)</a:t>
            </a:r>
          </a:p>
          <a:p>
            <a:pPr>
              <a:spcAft>
                <a:spcPts val="1200"/>
              </a:spcAft>
              <a:defRPr sz="2200">
                <a:solidFill>
                  <a:srgbClr val="333333"/>
                </a:solidFill>
                <a:latin typeface="Calibri"/>
              </a:defRPr>
            </a:pPr>
            <a:r>
              <a:t>  - Metabolic risk at lower BMI in Asian populations</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Disparities persist after adjusting for BMI, age, sex, education</a:t>
            </a:r>
          </a:p>
        </p:txBody>
      </p:sp>
      <p:sp>
        <p:nvSpPr>
          <p:cNvPr id="6" name="TextBox 5"/>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Discussion</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4754880"/>
          </a:xfrm>
          <a:prstGeom prst="rect">
            <a:avLst/>
          </a:prstGeom>
          <a:noFill/>
        </p:spPr>
        <p:txBody>
          <a:bodyPr wrap="square">
            <a:spAutoFit/>
          </a:bodyPr>
          <a:lstStyle/>
          <a:p>
            <a:pPr>
              <a:spcAft>
                <a:spcPts val="1200"/>
              </a:spcAft>
              <a:defRPr sz="2200">
                <a:solidFill>
                  <a:srgbClr val="333333"/>
                </a:solidFill>
                <a:latin typeface="Calibri"/>
              </a:defRPr>
            </a:pPr>
            <a:r>
              <a:t>Findings consistent with dose-response BMI-diabetes relationship</a:t>
            </a:r>
          </a:p>
          <a:p>
            <a:pPr>
              <a:spcAft>
                <a:spcPts val="1200"/>
              </a:spcAft>
              <a:defRPr sz="2200">
                <a:solidFill>
                  <a:srgbClr val="333333"/>
                </a:solidFill>
                <a:latin typeface="Calibri"/>
              </a:defRPr>
            </a:pPr>
            <a:r>
              <a:t>Adjusted OR 4.50 for obesity comparable to prior NHANES analyses</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Methodological insight: survey weights are critical</a:t>
            </a:r>
          </a:p>
          <a:p>
            <a:pPr>
              <a:spcAft>
                <a:spcPts val="1200"/>
              </a:spcAft>
              <a:defRPr sz="2200">
                <a:solidFill>
                  <a:srgbClr val="333333"/>
                </a:solidFill>
                <a:latin typeface="Calibri"/>
              </a:defRPr>
            </a:pPr>
            <a:r>
              <a:t>  - Unweighted: 14.9% vs Weighted: 10.2% (4.7 pp difference)</a:t>
            </a:r>
          </a:p>
          <a:p>
            <a:pPr>
              <a:spcAft>
                <a:spcPts val="1200"/>
              </a:spcAft>
              <a:defRPr sz="2200">
                <a:solidFill>
                  <a:srgbClr val="333333"/>
                </a:solidFill>
                <a:latin typeface="Calibri"/>
              </a:defRPr>
            </a:pPr>
            <a:r>
              <a:t>  - NHANES oversamples minorities and older adults</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Limitations:</a:t>
            </a:r>
          </a:p>
          <a:p>
            <a:pPr>
              <a:spcAft>
                <a:spcPts val="1200"/>
              </a:spcAft>
              <a:defRPr sz="2200">
                <a:solidFill>
                  <a:srgbClr val="333333"/>
                </a:solidFill>
                <a:latin typeface="Calibri"/>
              </a:defRPr>
            </a:pPr>
            <a:r>
              <a:t>  - Cross-sectional design (no causal inference)</a:t>
            </a:r>
          </a:p>
          <a:p>
            <a:pPr>
              <a:spcAft>
                <a:spcPts val="1200"/>
              </a:spcAft>
              <a:defRPr sz="2200">
                <a:solidFill>
                  <a:srgbClr val="333333"/>
                </a:solidFill>
                <a:latin typeface="Calibri"/>
              </a:defRPr>
            </a:pPr>
            <a:r>
              <a:t>  - HbA1c-only diabetes definition (may underestimate)</a:t>
            </a:r>
          </a:p>
          <a:p>
            <a:pPr>
              <a:spcAft>
                <a:spcPts val="1200"/>
              </a:spcAft>
              <a:defRPr sz="2200">
                <a:solidFill>
                  <a:srgbClr val="333333"/>
                </a:solidFill>
                <a:latin typeface="Calibri"/>
              </a:defRPr>
            </a:pPr>
            <a:r>
              <a:t>  - Cannot distinguish type 1 from type 2 diabetes</a:t>
            </a:r>
          </a:p>
          <a:p>
            <a:pPr>
              <a:spcAft>
                <a:spcPts val="1200"/>
              </a:spcAft>
              <a:defRPr sz="2200">
                <a:solidFill>
                  <a:srgbClr val="333333"/>
                </a:solidFill>
                <a:latin typeface="Calibri"/>
              </a:defRPr>
            </a:pPr>
            <a:r>
              <a:t>  - Residual confounding (diet, physical activity, family history)</a:t>
            </a:r>
          </a:p>
        </p:txBody>
      </p:sp>
      <p:sp>
        <p:nvSpPr>
          <p:cNvPr id="6" name="TextBox 5"/>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822960"/>
          </a:xfrm>
          <a:prstGeom prst="rect">
            <a:avLst/>
          </a:prstGeom>
          <a:noFill/>
        </p:spPr>
        <p:txBody>
          <a:bodyPr wrap="square">
            <a:spAutoFit/>
          </a:bodyPr>
          <a:lstStyle/>
          <a:p>
            <a:pPr>
              <a:defRPr sz="3200" b="1">
                <a:solidFill>
                  <a:srgbClr val="FFFFFF"/>
                </a:solidFill>
                <a:latin typeface="Calibri"/>
              </a:defRPr>
            </a:pPr>
            <a:r>
              <a:t>Conclusions</a:t>
            </a:r>
          </a:p>
        </p:txBody>
      </p:sp>
      <p:sp>
        <p:nvSpPr>
          <p:cNvPr id="4" name="Rectangle 3"/>
          <p:cNvSpPr/>
          <p:nvPr/>
        </p:nvSpPr>
        <p:spPr>
          <a:xfrm>
            <a:off x="0" y="1097280"/>
            <a:ext cx="12191695" cy="457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4754880"/>
          </a:xfrm>
          <a:prstGeom prst="rect">
            <a:avLst/>
          </a:prstGeom>
          <a:noFill/>
        </p:spPr>
        <p:txBody>
          <a:bodyPr wrap="square">
            <a:spAutoFit/>
          </a:bodyPr>
          <a:lstStyle/>
          <a:p>
            <a:pPr>
              <a:spcAft>
                <a:spcPts val="1200"/>
              </a:spcAft>
              <a:defRPr sz="2200">
                <a:solidFill>
                  <a:srgbClr val="333333"/>
                </a:solidFill>
                <a:latin typeface="Calibri"/>
              </a:defRPr>
            </a:pPr>
            <a:r>
              <a:t>Clear dose-response relationship: BMI category -&gt; diabetes prevalence</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Obesity: 4.5x higher adjusted odds of diabetes vs normal weight</a:t>
            </a:r>
          </a:p>
          <a:p>
            <a:pPr>
              <a:spcAft>
                <a:spcPts val="1200"/>
              </a:spcAft>
              <a:defRPr sz="2200">
                <a:solidFill>
                  <a:srgbClr val="333333"/>
                </a:solidFill>
                <a:latin typeface="Calibri"/>
              </a:defRPr>
            </a:pPr>
            <a:r>
              <a:t>Overweight: 2.0x higher adjusted odds vs normal weight</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Significant racial/ethnic disparities persist after adjustment</a:t>
            </a:r>
          </a:p>
          <a:p>
            <a:pPr>
              <a:spcAft>
                <a:spcPts val="1200"/>
              </a:spcAft>
              <a:defRPr sz="2200">
                <a:solidFill>
                  <a:srgbClr val="333333"/>
                </a:solidFill>
                <a:latin typeface="Calibri"/>
              </a:defRPr>
            </a:pPr>
            <a:r>
              <a:t>  - Asian populations: highest risk at lowest BMI</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Survey weights are essential for NHANES analyses</a:t>
            </a:r>
          </a:p>
          <a:p>
            <a:pPr>
              <a:spcAft>
                <a:spcPts val="1200"/>
              </a:spcAft>
              <a:defRPr sz="2200">
                <a:solidFill>
                  <a:srgbClr val="333333"/>
                </a:solidFill>
                <a:latin typeface="Calibri"/>
              </a:defRPr>
            </a:pPr>
          </a:p>
          <a:p>
            <a:pPr>
              <a:spcAft>
                <a:spcPts val="1200"/>
              </a:spcAft>
              <a:defRPr sz="2200">
                <a:solidFill>
                  <a:srgbClr val="333333"/>
                </a:solidFill>
                <a:latin typeface="Calibri"/>
              </a:defRPr>
            </a:pPr>
            <a:r>
              <a:t>Public health implication: obesity prevention remains the</a:t>
            </a:r>
          </a:p>
          <a:p>
            <a:pPr>
              <a:spcAft>
                <a:spcPts val="1200"/>
              </a:spcAft>
              <a:defRPr sz="2200">
                <a:solidFill>
                  <a:srgbClr val="333333"/>
                </a:solidFill>
                <a:latin typeface="Calibri"/>
              </a:defRPr>
            </a:pPr>
            <a:r>
              <a:t>  cornerstone strategy for reducing the diabetes burden</a:t>
            </a:r>
          </a:p>
        </p:txBody>
      </p:sp>
      <p:sp>
        <p:nvSpPr>
          <p:cNvPr id="6" name="TextBox 5"/>
          <p:cNvSpPr txBox="1"/>
          <p:nvPr/>
        </p:nvSpPr>
        <p:spPr>
          <a:xfrm>
            <a:off x="731520" y="6400800"/>
            <a:ext cx="10515600" cy="365760"/>
          </a:xfrm>
          <a:prstGeom prst="rect">
            <a:avLst/>
          </a:prstGeom>
          <a:noFill/>
        </p:spPr>
        <p:txBody>
          <a:bodyPr wrap="none">
            <a:spAutoFit/>
          </a:bodyPr>
          <a:lstStyle/>
          <a:p>
            <a:pPr algn="r">
              <a:defRPr sz="1000">
                <a:solidFill>
                  <a:srgbClr val="666666"/>
                </a:solidFill>
                <a:latin typeface="Calibri"/>
              </a:defRPr>
            </a:pPr>
            <a:r>
              <a:t>NHANES 2017-2018 | Obesity &amp; Diabetes Analysis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0" y="3200400"/>
            <a:ext cx="48764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1371600"/>
          </a:xfrm>
          <a:prstGeom prst="rect">
            <a:avLst/>
          </a:prstGeom>
          <a:noFill/>
        </p:spPr>
        <p:txBody>
          <a:bodyPr wrap="none">
            <a:spAutoFit/>
          </a:bodyPr>
          <a:lstStyle/>
          <a:p>
            <a:pPr algn="ctr">
              <a:defRPr sz="4400" b="1">
                <a:solidFill>
                  <a:srgbClr val="FFFFFF"/>
                </a:solidFill>
                <a:latin typeface="Calibri"/>
              </a:defRPr>
            </a:pPr>
            <a:r>
              <a:t>Thank You</a:t>
            </a:r>
          </a:p>
        </p:txBody>
      </p:sp>
      <p:sp>
        <p:nvSpPr>
          <p:cNvPr id="5" name="TextBox 4"/>
          <p:cNvSpPr txBox="1"/>
          <p:nvPr/>
        </p:nvSpPr>
        <p:spPr>
          <a:xfrm>
            <a:off x="914400" y="3657600"/>
            <a:ext cx="10058400" cy="1828800"/>
          </a:xfrm>
          <a:prstGeom prst="rect">
            <a:avLst/>
          </a:prstGeom>
          <a:noFill/>
        </p:spPr>
        <p:txBody>
          <a:bodyPr wrap="square">
            <a:spAutoFit/>
          </a:bodyPr>
          <a:lstStyle/>
          <a:p>
            <a:pPr algn="ctr">
              <a:defRPr sz="1800">
                <a:solidFill>
                  <a:srgbClr val="AAAAAA"/>
                </a:solidFill>
                <a:latin typeface="Calibri"/>
              </a:defRPr>
            </a:pPr>
            <a:r>
              <a:t>Data: NHANES 2017-2018 (CDC/NCHS)</a:t>
            </a:r>
          </a:p>
          <a:p>
            <a:pPr algn="ctr">
              <a:defRPr sz="1800">
                <a:solidFill>
                  <a:srgbClr val="AAAAAA"/>
                </a:solidFill>
                <a:latin typeface="Calibri"/>
              </a:defRPr>
            </a:pPr>
            <a:r>
              <a:t>Analysis pipeline: Python 3 | statsmodels | matplotlib</a:t>
            </a:r>
          </a:p>
          <a:p>
            <a:pPr algn="ctr">
              <a:defRPr sz="1600">
                <a:solidFill>
                  <a:srgbClr val="888888"/>
                </a:solidFill>
                <a:latin typeface="Calibri"/>
              </a:defRPr>
            </a:pPr>
            <a:r>
              <a:t>Generated with MedSci Skills for Claude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