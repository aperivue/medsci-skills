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300" b="0" i="0">
                <a:solidFill>
                  <a:srgbClr val="21252B"/>
                </a:solidFill>
                <a:latin typeface="Inter"/>
                <a:ea typeface="Pretendard"/>
              </a:rPr>
              <a:t>10분입니다. 진단정확도 연구의 전형적 형태를 끝까지 돌린 예시입니다. 데이터셋이 쉬워서 숫자 자체는 자랑거리가 아니고, 보실 것은 보고 방식입니다 — 참조표준 정의, 흐름도, 구간, 그리고 체크리스트까지.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300" b="0" i="0">
                <a:solidFill>
                  <a:srgbClr val="21252B"/>
                </a:solidFill>
                <a:latin typeface="Inter"/>
                <a:ea typeface="Pretendard"/>
              </a:rPr>
              <a:t>STARD 흐름도입니다. 층화 분할에 시드가 기록돼 있고, 각 칸의 숫자는 표에서 그대로 나옵니다. 분석 단위는 흡인검체 한 건이고 환자 중복은 없습니다.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300" b="0" i="0">
                <a:solidFill>
                  <a:srgbClr val="21252B"/>
                </a:solidFill>
                <a:latin typeface="Inter"/>
                <a:ea typeface="Pretendard"/>
              </a:rPr>
              <a:t>세 모델 모두 AUC가 0.99대입니다. 이 데이터셋에서는 정상이고, 그래서 이 발표의 주장은 성능이 아닙니다. 구간은 DeLong으로 계산했고 표에서 읽습니다.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300" b="0" i="0">
                <a:solidFill>
                  <a:srgbClr val="21252B"/>
                </a:solidFill>
                <a:latin typeface="Inter"/>
                <a:ea typeface="Pretendard"/>
              </a:rPr>
              <a:t>임계값 0.5에서의 혼동행렬입니다. 위음성이 몇 건인지 세는 게 AUC보다 임상적으로 직접적입니다. Youden 임계값도 같이 보고하는데, 임계값 선택은 사후에 하면 낙관 편향이 생깁니다.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300" b="0" i="0">
                <a:solidFill>
                  <a:srgbClr val="21252B"/>
                </a:solidFill>
                <a:latin typeface="Inter"/>
                <a:ea typeface="Pretendard"/>
              </a:rPr>
              <a:t>파이프라인이 만든 것과 주장할 수 없는 것을 나눕니다. 외부 코호트가 없고 벤치마크가 정제된 것이라 임상 유용성은 주장하지 않습니다.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2011680"/>
            <a:ext cx="40000" cy="3200400"/>
          </a:xfrm>
          <a:prstGeom prst="rect">
            <a:avLst/>
          </a:prstGeom>
          <a:solidFill>
            <a:srgbClr val="1B2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2011680"/>
            <a:ext cx="9144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 i="0" spc="300">
                <a:solidFill>
                  <a:srgbClr val="B83E3A"/>
                </a:solidFill>
                <a:latin typeface="Inter"/>
                <a:ea typeface="Pretendard"/>
              </a:rPr>
              <a:t>DIAGNOSTIC ACCURACY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2468880"/>
            <a:ext cx="10515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4800" b="1" i="0">
                <a:solidFill>
                  <a:srgbClr val="1B2A4E"/>
                </a:solidFill>
                <a:latin typeface="Inter"/>
                <a:ea typeface="Pretendard"/>
              </a:rPr>
              <a:t>Three classifiers on fine-needle aspirate morphometry, reported to STARD with DeLong intervals</a:t>
            </a:r>
          </a:p>
          <a:p>
            <a:pPr algn="l"/>
            <a:r>
              <a:rPr sz="1800" b="0" i="1">
                <a:solidFill>
                  <a:srgbClr val="4A525C"/>
                </a:solidFill>
                <a:latin typeface="Inter"/>
                <a:ea typeface="Pretendard"/>
              </a:rPr>
              <a:t>n = 171 held-out samples · histopathology as the reference standard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1005840" y="5440680"/>
            <a:ext cx="1828800" cy="0"/>
          </a:xfrm>
          <a:prstGeom prst="line">
            <a:avLst/>
          </a:prstGeom>
          <a:ln w="12700">
            <a:solidFill>
              <a:srgbClr val="1B2A4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005840" y="54864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 i="0">
                <a:solidFill>
                  <a:srgbClr val="1B2A4E"/>
                </a:solidFill>
                <a:latin typeface="Inter"/>
                <a:ea typeface="Pretendard"/>
              </a:rPr>
              <a:t>MedSci Skills · Demo 1 · tooling demonstration, not a clinical claim</a:t>
            </a:r>
          </a:p>
          <a:p>
            <a:pPr algn="l">
              <a:spcAft>
                <a:spcPts val="400"/>
              </a:spcAft>
            </a:pPr>
            <a:r>
              <a:rPr sz="2000" b="0" i="0">
                <a:solidFill>
                  <a:srgbClr val="4A525C"/>
                </a:solidFill>
                <a:latin typeface="Inter"/>
                <a:ea typeface="Pretendard"/>
              </a:rPr>
              <a:t>Presenter · Affiliation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68580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3000" b="1" i="0">
                <a:solidFill>
                  <a:srgbClr val="1B2A4E"/>
                </a:solidFill>
                <a:latin typeface="Inter"/>
                <a:ea typeface="Pretendard"/>
              </a:rPr>
              <a:t>The reference standard is histopathology, and the analysis unit is one aspirate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640080" y="1883664"/>
            <a:ext cx="548639" cy="0"/>
          </a:xfrm>
          <a:prstGeom prst="line">
            <a:avLst/>
          </a:prstGeom>
          <a:ln w="31750">
            <a:solidFill>
              <a:srgbClr val="B83E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640080" y="2194560"/>
            <a:ext cx="62179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  <p:sp>
        <p:nvSpPr>
          <p:cNvPr id="5" name="Rectangle 4"/>
          <p:cNvSpPr/>
          <p:nvPr/>
        </p:nvSpPr>
        <p:spPr>
          <a:xfrm>
            <a:off x="7278624" y="2924746"/>
            <a:ext cx="4572000" cy="2306955"/>
          </a:xfrm>
          <a:prstGeom prst="rect">
            <a:avLst/>
          </a:prstGeom>
          <a:solidFill>
            <a:srgbClr val="CCD0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stard_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23760" y="2869882"/>
            <a:ext cx="4572000" cy="2306955"/>
          </a:xfrm>
          <a:prstGeom prst="rect">
            <a:avLst/>
          </a:prstGeom>
          <a:ln w="6000">
            <a:solidFill>
              <a:srgbClr val="CCD0D6"/>
            </a:solidFill>
          </a:ln>
        </p:spPr>
      </p:pic>
      <p:sp>
        <p:nvSpPr>
          <p:cNvPr id="7" name="TextBox 6"/>
          <p:cNvSpPr txBox="1"/>
          <p:nvPr/>
        </p:nvSpPr>
        <p:spPr>
          <a:xfrm>
            <a:off x="7223760" y="5268277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 spc="200">
                <a:solidFill>
                  <a:srgbClr val="B83E3A"/>
                </a:solidFill>
                <a:latin typeface="Inter"/>
                <a:ea typeface="Pretendard"/>
              </a:rPr>
              <a:t>Figure  ·  </a:t>
            </a:r>
            <a:r>
              <a:rPr sz="2000" b="0" i="1">
                <a:solidFill>
                  <a:srgbClr val="8A929E"/>
                </a:solidFill>
                <a:latin typeface="Inter"/>
                <a:ea typeface="Pretendard"/>
              </a:rPr>
              <a:t>STARD 2015 participant flow. Stratified 70/30 split, seed 42; 171 held-out (64 malignant).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68580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3000" b="1" i="0">
                <a:solidFill>
                  <a:srgbClr val="1B2A4E"/>
                </a:solidFill>
                <a:latin typeface="Inter"/>
                <a:ea typeface="Pretendard"/>
              </a:rPr>
              <a:t>Logistic regression reached AUC 0.998 (95% CI 0.994–1.0)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640080" y="1883664"/>
            <a:ext cx="548639" cy="0"/>
          </a:xfrm>
          <a:prstGeom prst="line">
            <a:avLst/>
          </a:prstGeom>
          <a:ln w="31750">
            <a:solidFill>
              <a:srgbClr val="B83E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640080" y="2194560"/>
            <a:ext cx="62179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  <p:sp>
        <p:nvSpPr>
          <p:cNvPr id="5" name="Rectangle 4"/>
          <p:cNvSpPr/>
          <p:nvPr/>
        </p:nvSpPr>
        <p:spPr>
          <a:xfrm>
            <a:off x="7735824" y="2249424"/>
            <a:ext cx="3657600" cy="3657600"/>
          </a:xfrm>
          <a:prstGeom prst="rect">
            <a:avLst/>
          </a:prstGeom>
          <a:solidFill>
            <a:srgbClr val="CCD0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roc_cur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80960" y="2194560"/>
            <a:ext cx="3657600" cy="3657600"/>
          </a:xfrm>
          <a:prstGeom prst="rect">
            <a:avLst/>
          </a:prstGeom>
          <a:ln w="6000">
            <a:solidFill>
              <a:srgbClr val="CCD0D6"/>
            </a:solidFill>
          </a:ln>
        </p:spPr>
      </p:pic>
      <p:sp>
        <p:nvSpPr>
          <p:cNvPr id="7" name="TextBox 6"/>
          <p:cNvSpPr txBox="1"/>
          <p:nvPr/>
        </p:nvSpPr>
        <p:spPr>
          <a:xfrm>
            <a:off x="7223760" y="594360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 spc="200">
                <a:solidFill>
                  <a:srgbClr val="B83E3A"/>
                </a:solidFill>
                <a:latin typeface="Inter"/>
                <a:ea typeface="Pretendard"/>
              </a:rPr>
              <a:t>Figure  ·  </a:t>
            </a:r>
            <a:r>
              <a:rPr sz="2000" b="0" i="1">
                <a:solidFill>
                  <a:srgbClr val="8A929E"/>
                </a:solidFill>
                <a:latin typeface="Inter"/>
                <a:ea typeface="Pretendard"/>
              </a:rPr>
              <a:t>Three models, DeLong 95% CIs. The benchmark is easy; the point is the reporting.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68580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3000" b="1" i="0">
                <a:solidFill>
                  <a:srgbClr val="1B2A4E"/>
                </a:solidFill>
                <a:latin typeface="Inter"/>
                <a:ea typeface="Pretendard"/>
              </a:rPr>
              <a:t>At threshold 0.5, sensitivity 0.938 and specificity 0.991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640080" y="1883664"/>
            <a:ext cx="548639" cy="0"/>
          </a:xfrm>
          <a:prstGeom prst="line">
            <a:avLst/>
          </a:prstGeom>
          <a:ln w="31750">
            <a:solidFill>
              <a:srgbClr val="B83E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640080" y="2194560"/>
            <a:ext cx="62179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1400" b="1" i="0">
                <a:solidFill>
                  <a:srgbClr val="B83E3A"/>
                </a:solidFill>
                <a:latin typeface="Inter"/>
                <a:ea typeface="Pretendard"/>
              </a:rPr>
              <a:t>▪  </a:t>
            </a:r>
            <a:r>
              <a:rPr sz="2000" b="1" i="0">
                <a:solidFill>
                  <a:srgbClr val="21252B"/>
                </a:solidFill>
                <a:latin typeface="Inter"/>
                <a:ea typeface="Pretendard"/>
              </a:rPr>
              <a:t>4 false negatives</a:t>
            </a:r>
            <a:r>
              <a:rPr sz="2000" b="0" i="0">
                <a:solidFill>
                  <a:srgbClr val="21252B"/>
                </a:solidFill>
                <a:latin typeface="Inter"/>
                <a:ea typeface="Pretendard"/>
              </a:rPr>
              <a:t> of 64 malignant</a:t>
            </a:r>
          </a:p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1400" b="1" i="0">
                <a:solidFill>
                  <a:srgbClr val="B83E3A"/>
                </a:solidFill>
                <a:latin typeface="Inter"/>
                <a:ea typeface="Pretendard"/>
              </a:rPr>
              <a:t>▪  </a:t>
            </a:r>
            <a:r>
              <a:rPr sz="2000" b="0" i="0">
                <a:solidFill>
                  <a:srgbClr val="21252B"/>
                </a:solidFill>
                <a:latin typeface="Inter"/>
                <a:ea typeface="Pretendard"/>
              </a:rPr>
              <a:t>Youden threshold 0.243 would give sens 0.984 / spec 0.981</a:t>
            </a:r>
          </a:p>
        </p:txBody>
      </p:sp>
      <p:sp>
        <p:nvSpPr>
          <p:cNvPr id="5" name="Rectangle 4"/>
          <p:cNvSpPr/>
          <p:nvPr/>
        </p:nvSpPr>
        <p:spPr>
          <a:xfrm>
            <a:off x="7278624" y="3339652"/>
            <a:ext cx="4572000" cy="1477142"/>
          </a:xfrm>
          <a:prstGeom prst="rect">
            <a:avLst/>
          </a:prstGeom>
          <a:solidFill>
            <a:srgbClr val="CCD0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confusion_matric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23760" y="3284788"/>
            <a:ext cx="4572000" cy="1477142"/>
          </a:xfrm>
          <a:prstGeom prst="rect">
            <a:avLst/>
          </a:prstGeom>
          <a:ln w="6000">
            <a:solidFill>
              <a:srgbClr val="CCD0D6"/>
            </a:solidFill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92608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 i="0" spc="400">
                <a:solidFill>
                  <a:srgbClr val="B83E3A"/>
                </a:solidFill>
                <a:latin typeface="Inter"/>
                <a:ea typeface="Pretendard"/>
              </a:rPr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8580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 i="0">
                <a:solidFill>
                  <a:srgbClr val="1B2A4E"/>
                </a:solidFill>
                <a:latin typeface="Inter"/>
                <a:ea typeface="Pretendard"/>
              </a:rPr>
              <a:t>What the pipeline produced, and what it cannot claim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40080" y="1600200"/>
            <a:ext cx="548639" cy="0"/>
          </a:xfrm>
          <a:prstGeom prst="line">
            <a:avLst/>
          </a:prstGeom>
          <a:ln w="31750">
            <a:solidFill>
              <a:srgbClr val="B83E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640080" y="2011680"/>
            <a:ext cx="109728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Aft>
                <a:spcPts val="1400"/>
              </a:spcAft>
            </a:pPr>
            <a:r>
              <a:rPr sz="1600" b="1" i="0">
                <a:solidFill>
                  <a:srgbClr val="B83E3A"/>
                </a:solidFill>
                <a:latin typeface="Inter"/>
                <a:ea typeface="Pretendard"/>
              </a:rPr>
              <a:t>▪  </a:t>
            </a:r>
            <a:r>
              <a:rPr sz="2200" b="1" i="0">
                <a:solidFill>
                  <a:srgbClr val="21252B"/>
                </a:solidFill>
                <a:latin typeface="Inter"/>
                <a:ea typeface="Pretendard"/>
              </a:rPr>
              <a:t>Produced:</a:t>
            </a:r>
            <a:r>
              <a:rPr sz="2200" b="0" i="0">
                <a:solidFill>
                  <a:srgbClr val="21252B"/>
                </a:solidFill>
                <a:latin typeface="Inter"/>
                <a:ea typeface="Pretendard"/>
              </a:rPr>
              <a:t> manuscript, STARD flow, DeLong CIs, checklist, self-review — no hand-typed numbers</a:t>
            </a:r>
          </a:p>
          <a:p>
            <a:pPr algn="l">
              <a:lnSpc>
                <a:spcPct val="130000"/>
              </a:lnSpc>
              <a:spcAft>
                <a:spcPts val="1400"/>
              </a:spcAft>
            </a:pPr>
            <a:r>
              <a:rPr sz="1600" b="1" i="0">
                <a:solidFill>
                  <a:srgbClr val="B83E3A"/>
                </a:solidFill>
                <a:latin typeface="Inter"/>
                <a:ea typeface="Pretendard"/>
              </a:rPr>
              <a:t>▪  </a:t>
            </a:r>
            <a:r>
              <a:rPr sz="2200" b="1" i="0">
                <a:solidFill>
                  <a:srgbClr val="21252B"/>
                </a:solidFill>
                <a:latin typeface="Inter"/>
                <a:ea typeface="Pretendard"/>
              </a:rPr>
              <a:t>Cannot claim:</a:t>
            </a:r>
            <a:r>
              <a:rPr sz="2200" b="0" i="0">
                <a:solidFill>
                  <a:srgbClr val="21252B"/>
                </a:solidFill>
                <a:latin typeface="Inter"/>
                <a:ea typeface="Pretendard"/>
              </a:rPr>
              <a:t> clinical utility — a curated 1990s morphometry benchmark</a:t>
            </a:r>
          </a:p>
          <a:p>
            <a:pPr algn="l">
              <a:lnSpc>
                <a:spcPct val="130000"/>
              </a:lnSpc>
              <a:spcAft>
                <a:spcPts val="1400"/>
              </a:spcAft>
            </a:pPr>
            <a:r>
              <a:rPr sz="1600" b="1" i="0">
                <a:solidFill>
                  <a:srgbClr val="B83E3A"/>
                </a:solidFill>
                <a:latin typeface="Inter"/>
                <a:ea typeface="Pretendard"/>
              </a:rPr>
              <a:t>▪  </a:t>
            </a:r>
            <a:r>
              <a:rPr sz="2200" b="1" i="0">
                <a:solidFill>
                  <a:srgbClr val="21252B"/>
                </a:solidFill>
                <a:latin typeface="Inter"/>
                <a:ea typeface="Pretendard"/>
              </a:rPr>
              <a:t>Cannot claim:</a:t>
            </a:r>
            <a:r>
              <a:rPr sz="2200" b="0" i="0">
                <a:solidFill>
                  <a:srgbClr val="21252B"/>
                </a:solidFill>
                <a:latin typeface="Inter"/>
                <a:ea typeface="Pretendard"/>
              </a:rPr>
              <a:t> generalisation — no external cohort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94360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0" i="0">
                <a:solidFill>
                  <a:srgbClr val="4A525C"/>
                </a:solidFill>
                <a:latin typeface="Inter"/>
                <a:ea typeface="Pretendard"/>
              </a:rPr>
              <a:t>demo/01_wisconsin_bc · every number in analysis/tables/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Widescreen</PresentationFormat>
  <Paragraphs>0</Paragraphs>
  <Slides>5</Slides>
  <Notes>5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6" baseType="lpstr">
      <vt:lpstr>Office Theme</vt:lpstr>
      <vt:lpstr>DIAGNOSTIC ACCURACY</vt:lpstr>
      <vt:lpstr>The reference standard is histopathology, and the analysis u</vt:lpstr>
      <vt:lpstr>Logistic regression reached AUC 0.998 (95% CI 0.994–1.0)</vt:lpstr>
      <vt:lpstr>At threshold 0.5, sensitivity 0.938 and specificity 0.991</vt:lpstr>
      <vt:lpstr>CONCLUSION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