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300" b="0" i="0">
                <a:solidFill>
                  <a:srgbClr val="21252B"/>
                </a:solidFill>
                <a:latin typeface="Inter"/>
                <a:ea typeface="Pretendard"/>
              </a:rPr>
              <a:t>10분입니다. 결론부터 말씀드리면, 외부 CT에서는 정직하게 잘 나왔고 MRI에서는 무너졌는데, 무너진 이유가 모델이 아니라 전처리 계약이었습니다. 그리고 파이프라인은 그 사실을 한 번도 알려주지 않았습니다. 오늘 보실 것은 그 침묵입니다.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300" b="0" i="0">
                <a:solidFill>
                  <a:srgbClr val="21252B"/>
                </a:solidFill>
                <a:latin typeface="Inter"/>
                <a:ea typeface="Pretendard"/>
              </a:rPr>
              <a:t>질문을 좁혔습니다. 모델을 얻을 수 있느냐가 아니라, 그렇게 나온 연구가 방어 가능하냐입니다. 그리고 미리 밝힙니다 — 3번 rung은 우연히 발견한 게 아니라 우리가 설계해서 넣은 시험입니다. 뒤에서 다시 말씀드리겠습니다.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300" b="0" i="0">
                <a:solidFill>
                  <a:srgbClr val="21252B"/>
                </a:solidFill>
                <a:latin typeface="Inter"/>
                <a:ea typeface="Pretendard"/>
              </a:rPr>
              <a:t>케이스 회계입니다. 제외마다 이유가 붙어 있고, 라벨된 360건 중 3건은 비장이 아예 없습니다. 그 3건은 Dice가 정의되지 않으므로 분포에서 빼고 따로 보고합니다 — 규칙은 예측을 보기 전에 고정했습니다.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300" b="0" i="0">
                <a:solidFill>
                  <a:srgbClr val="21252B"/>
                </a:solidFill>
                <a:latin typeface="Inter"/>
                <a:ea typeface="Pretendard"/>
              </a:rPr>
              <a:t>게이트 두 개가 학습 전에 돌았습니다. 중요한 건 반사실입니다 — nnU-Net을 '평범하게' 쓰면 held-out까지 포함해 fingerprint를 맞추게 되고, 같은 게이트가 그걸 3건의 Major로 거부합니다. 통과하는 게이트만 보여주면 게이트가 실패할 수 있다는 증거가 없습니다.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300" b="0" i="0">
                <a:solidFill>
                  <a:srgbClr val="21252B"/>
                </a:solidFill>
                <a:latin typeface="Inter"/>
                <a:ea typeface="Pretendard"/>
              </a:rPr>
              <a:t>사다리입니다. 내부에서 외부 CT로 가면서 0.066 떨어지는데, 이건 정직한 낙폭입니다. MRI로 가면 거의 전부 잃습니다. 두 낙폭 모두 차이 자체에 구간을 붙였습니다 — 중앙값 두 개의 뺄셈은 그 자체로는 추론량이 아니기 때문입니다.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300" b="0" i="0">
                <a:solidFill>
                  <a:srgbClr val="21252B"/>
                </a:solidFill>
                <a:latin typeface="Inter"/>
                <a:ea typeface="Pretendard"/>
              </a:rPr>
              <a:t>중앙값만 보면 안 되는 이유입니다. 외부 CT는 0까지 내려가는 꼬리를 갖고 있고, 빈 예측이 28건입니다. 비장이 없는 케이스 2건에는 오히려 비장을 그렸습니다. HD95는 예측이 비면 정의가 안 되는데, 그게 하필 가장 크게 실패한 케이스들이라 분모가 다릅니다.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300" b="0" i="0">
                <a:solidFill>
                  <a:srgbClr val="21252B"/>
                </a:solidFill>
                <a:latin typeface="Inter"/>
                <a:ea typeface="Pretendard"/>
              </a:rPr>
              <a:t>사전 지정한 subgroup입니다. 비장비대에서 가장 나쁩니다 — 그런데 비장 분할이 존재하는 이유가 바로 비장비대 측정입니다. 0.8932라는 헤드라인이 정확히 그걸 가립니다. 층 간 차이는 검정하지 않았고, 추정치로만 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300" b="0" i="0">
                <a:solidFill>
                  <a:srgbClr val="21252B"/>
                </a:solidFill>
                <a:latin typeface="Inter"/>
                <a:ea typeface="Pretendard"/>
              </a:rPr>
              <a:t>여기서 정직하게 선을 긋습니다.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300" b="0" i="0">
                <a:solidFill>
                  <a:srgbClr val="21252B"/>
                </a:solidFill>
                <a:latin typeface="Inter"/>
                <a:ea typeface="Pretendard"/>
              </a:rPr>
              <a:t>훈련 plan이 CTNormalization을 싣고 추론까지 옵니다. HU는 −1000 근처 공기 바닥으로 정의되는데 CT는 300건 전부 그게 있고 MRI는 0건입니다. 같은 clip을 적용하면 MRI는 중앙값 23% 볼륨이 천장에서 뭉개집니다. 그리고 이걸 알려줄 인자가 명령어에 없습니다.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300" b="0" i="0">
                <a:solidFill>
                  <a:srgbClr val="21252B"/>
                </a:solidFill>
                <a:latin typeface="Inter"/>
                <a:ea typeface="Pretendard"/>
              </a:rPr>
              <a:t>가장 불편한 슬라이드입니다. 우리 프로파일러가 학습 전에 이미 잡았습니다 — 다만 Minor로, 아무도 다시 읽지 않는 디렉터리에. 그러니 문제는 탐지가 아니라 전달과 심각도입니다. 이건 이 사례가 제기하는 가설이지, 이 사례가 증명한 성질은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300" b="0" i="0">
                <a:solidFill>
                  <a:srgbClr val="21252B"/>
                </a:solidFill>
                <a:latin typeface="Inter"/>
                <a:ea typeface="Pretendard"/>
              </a:rPr>
              <a:t>대조군입니다. 강도 스케일 하나만 바꿨고 재학습은 없습니다. Dice가 0.015에서 0.302로 스무 배 올랐지만 CT의 0.893에는 한참 못 미칩니다. 즉 원래 붕괴의 상당 부분은 전처리 계약 탓이었고, 나머지는 진짜 표현 전이 실패입니다. 예측은 실행 전에 적어뒀습니다.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300" b="0" i="0">
                <a:solidFill>
                  <a:srgbClr val="21252B"/>
                </a:solidFill>
                <a:latin typeface="Inter"/>
                <a:ea typeface="Pretendard"/>
              </a:rPr>
              <a:t>마무리입니다. 이 연구가 세운 것과 세우지 못한 것을 나눠 말씀드립니다. 전처리 실패인지 표현 전이 실패인지는 분리하지 못했습니다 — 올바르게 정규화한 MRI 대조군을 안 돌렸기 때문입니다. 그게 다음 실험이고, 재학습 없이 추론 한 번이면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011680"/>
            <a:ext cx="40000" cy="3200400"/>
          </a:xfrm>
          <a:prstGeom prst="rect">
            <a:avLst/>
          </a:prstGeom>
          <a:solidFill>
            <a:srgbClr val="1B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01168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spc="300">
                <a:solidFill>
                  <a:srgbClr val="B83E3A"/>
                </a:solidFill>
                <a:latin typeface="Inter"/>
                <a:ea typeface="Pretendard"/>
              </a:rPr>
              <a:t>EXTERNAL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46888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 i="0">
                <a:solidFill>
                  <a:srgbClr val="1B2A4E"/>
                </a:solidFill>
                <a:latin typeface="Inter"/>
                <a:ea typeface="Pretendard"/>
              </a:rPr>
              <a:t>A segmentation model that scored 0.89 externally and 0.015 on a modality shift — and the pipeline never said a word</a:t>
            </a:r>
          </a:p>
          <a:p>
            <a:pPr algn="l"/>
            <a:r>
              <a:rPr sz="1800" b="0" i="1">
                <a:solidFill>
                  <a:srgbClr val="4A525C"/>
                </a:solidFill>
                <a:latin typeface="Inter"/>
                <a:ea typeface="Pretendard"/>
              </a:rPr>
              <a:t>Three labelled rungs, two public datasets, one preprocessing contract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005840" y="5440680"/>
            <a:ext cx="1828800" cy="0"/>
          </a:xfrm>
          <a:prstGeom prst="line">
            <a:avLst/>
          </a:prstGeom>
          <a:ln w="12700">
            <a:solidFill>
              <a:srgbClr val="1B2A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05840" y="5486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B2A4E"/>
                </a:solidFill>
                <a:latin typeface="Inter"/>
                <a:ea typeface="Pretendard"/>
              </a:rPr>
              <a:t>MedSci Skills · Demo 5 · tooling demonstration, not a clinical claim</a:t>
            </a:r>
          </a:p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4A525C"/>
                </a:solidFill>
                <a:latin typeface="Inter"/>
                <a:ea typeface="Pretendard"/>
              </a:rPr>
              <a:t>Presenter · Affiliation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858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 i="0">
                <a:solidFill>
                  <a:srgbClr val="1B2A4E"/>
                </a:solidFill>
                <a:latin typeface="Inter"/>
                <a:ea typeface="Pretendard"/>
              </a:rPr>
              <a:t>The question is not whether a clinician can train a model. They can.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40080" y="1883664"/>
            <a:ext cx="548639" cy="0"/>
          </a:xfrm>
          <a:prstGeom prst="line">
            <a:avLst/>
          </a:prstGeom>
          <a:ln w="31750">
            <a:solidFill>
              <a:srgbClr val="B83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 b="1" i="0">
                <a:solidFill>
                  <a:srgbClr val="B83E3A"/>
                </a:solidFill>
                <a:latin typeface="Inter"/>
                <a:ea typeface="Pretendard"/>
              </a:rPr>
              <a:t>▪  </a:t>
            </a:r>
            <a:r>
              <a:rPr sz="2000" b="1" i="0">
                <a:solidFill>
                  <a:srgbClr val="21252B"/>
                </a:solidFill>
                <a:latin typeface="Inter"/>
                <a:ea typeface="Pretendard"/>
              </a:rPr>
              <a:t>It is whether the study that results is defensible — and where it stops being so.</a:t>
            </a:r>
          </a:p>
          <a:p>
            <a:pPr algn="l" lvl="1">
              <a:lnSpc>
                <a:spcPct val="125000"/>
              </a:lnSpc>
              <a:spcAft>
                <a:spcPts val="1000"/>
              </a:spcAft>
            </a:pPr>
            <a:r>
              <a:rPr sz="1500" b="0" i="0">
                <a:solidFill>
                  <a:srgbClr val="8A929E"/>
                </a:solidFill>
                <a:latin typeface="Inter"/>
                <a:ea typeface="Pretendard"/>
              </a:rPr>
              <a:t>— </a:t>
            </a:r>
            <a:r>
              <a:rPr sz="1600" b="0" i="0">
                <a:solidFill>
                  <a:srgbClr val="4A525C"/>
                </a:solidFill>
                <a:latin typeface="Inter"/>
                <a:ea typeface="Pretendard"/>
              </a:rPr>
              <a:t>Spleen segmentation, three labelled rungs, both datasets openly downloadable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 b="1" i="0">
                <a:solidFill>
                  <a:srgbClr val="B83E3A"/>
                </a:solidFill>
                <a:latin typeface="Inter"/>
                <a:ea typeface="Pretendard"/>
              </a:rPr>
              <a:t>▪  </a:t>
            </a:r>
            <a:r>
              <a:rPr sz="2000" b="1" i="0">
                <a:solidFill>
                  <a:srgbClr val="21252B"/>
                </a:solidFill>
                <a:latin typeface="Inter"/>
                <a:ea typeface="Pretendard"/>
              </a:rPr>
              <a:t>Rungs 1–2 are ordinary validation. Rung 3 is a constructed test.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858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 i="0">
                <a:solidFill>
                  <a:srgbClr val="1B2A4E"/>
                </a:solidFill>
                <a:latin typeface="Inter"/>
                <a:ea typeface="Pretendard"/>
              </a:rPr>
              <a:t>41 labelled MSD cases became 32 train and 9 held-out; AMOS supplied 300 CT and 60 MRI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40080" y="1883664"/>
            <a:ext cx="548639" cy="0"/>
          </a:xfrm>
          <a:prstGeom prst="line">
            <a:avLst/>
          </a:prstGeom>
          <a:ln w="31750">
            <a:solidFill>
              <a:srgbClr val="B83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2194560"/>
            <a:ext cx="6217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5" name="Rectangle 4"/>
          <p:cNvSpPr/>
          <p:nvPr/>
        </p:nvSpPr>
        <p:spPr>
          <a:xfrm>
            <a:off x="7278624" y="3267646"/>
            <a:ext cx="4572000" cy="1621155"/>
          </a:xfrm>
          <a:prstGeom prst="rect">
            <a:avLst/>
          </a:prstGeom>
          <a:solidFill>
            <a:srgbClr val="CCD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5_case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3212782"/>
            <a:ext cx="4572000" cy="1621155"/>
          </a:xfrm>
          <a:prstGeom prst="rect">
            <a:avLst/>
          </a:prstGeom>
          <a:ln w="6000">
            <a:solidFill>
              <a:srgbClr val="CCD0D6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7223760" y="4925377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spc="200">
                <a:solidFill>
                  <a:srgbClr val="B83E3A"/>
                </a:solidFill>
                <a:latin typeface="Inter"/>
                <a:ea typeface="Pretendard"/>
              </a:rPr>
              <a:t>Figure  ·  </a:t>
            </a:r>
            <a:r>
              <a:rPr sz="2000" b="0" i="1">
                <a:solidFill>
                  <a:srgbClr val="8A929E"/>
                </a:solidFill>
                <a:latin typeface="Inter"/>
                <a:ea typeface="Pretendard"/>
              </a:rPr>
              <a:t>Every exclusion carries its reason. Three cases contain no spleen at all.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858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 i="0">
                <a:solidFill>
                  <a:srgbClr val="1B2A4E"/>
                </a:solidFill>
                <a:latin typeface="Inter"/>
                <a:ea typeface="Pretendard"/>
              </a:rPr>
              <a:t>Two gates ran before training, and the counterfactual had to fail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40080" y="1883664"/>
            <a:ext cx="548639" cy="0"/>
          </a:xfrm>
          <a:prstGeom prst="line">
            <a:avLst/>
          </a:prstGeom>
          <a:ln w="31750">
            <a:solidFill>
              <a:srgbClr val="B83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 b="1" i="0">
                <a:solidFill>
                  <a:srgbClr val="B83E3A"/>
                </a:solidFill>
                <a:latin typeface="Inter"/>
                <a:ea typeface="Pretendard"/>
              </a:rPr>
              <a:t>▪  </a:t>
            </a:r>
            <a:r>
              <a:rPr sz="2000" b="1" i="0">
                <a:solidFill>
                  <a:srgbClr val="21252B"/>
                </a:solidFill>
                <a:latin typeface="Inter"/>
                <a:ea typeface="Pretendard"/>
              </a:rPr>
              <a:t>Split leakage</a:t>
            </a:r>
            <a:r>
              <a:rPr sz="2000" b="0" i="0">
                <a:solidFill>
                  <a:srgbClr val="21252B"/>
                </a:solidFill>
                <a:latin typeface="Inter"/>
                <a:ea typeface="Pretendard"/>
              </a:rPr>
              <a:t> — disjointness proved by set arithmetic, not asserted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 b="1" i="0">
                <a:solidFill>
                  <a:srgbClr val="B83E3A"/>
                </a:solidFill>
                <a:latin typeface="Inter"/>
                <a:ea typeface="Pretendard"/>
              </a:rPr>
              <a:t>▪  </a:t>
            </a:r>
            <a:r>
              <a:rPr sz="2000" b="1" i="0">
                <a:solidFill>
                  <a:srgbClr val="21252B"/>
                </a:solidFill>
                <a:latin typeface="Inter"/>
                <a:ea typeface="Pretendard"/>
              </a:rPr>
              <a:t>Preprocessing leakage</a:t>
            </a:r>
            <a:r>
              <a:rPr sz="2000" b="0" i="0">
                <a:solidFill>
                  <a:srgbClr val="21252B"/>
                </a:solidFill>
                <a:latin typeface="Inter"/>
                <a:ea typeface="Pretendard"/>
              </a:rPr>
              <a:t> — the declared manifest passes</a:t>
            </a:r>
          </a:p>
          <a:p>
            <a:pPr algn="l" lvl="1">
              <a:lnSpc>
                <a:spcPct val="125000"/>
              </a:lnSpc>
              <a:spcAft>
                <a:spcPts val="1000"/>
              </a:spcAft>
            </a:pPr>
            <a:r>
              <a:rPr sz="1500" b="0" i="0">
                <a:solidFill>
                  <a:srgbClr val="8A929E"/>
                </a:solidFill>
                <a:latin typeface="Inter"/>
                <a:ea typeface="Pretendard"/>
              </a:rPr>
              <a:t>— </a:t>
            </a:r>
            <a:r>
              <a:rPr sz="1600" b="0" i="0">
                <a:solidFill>
                  <a:srgbClr val="4A525C"/>
                </a:solidFill>
                <a:latin typeface="Inter"/>
                <a:ea typeface="Pretendard"/>
              </a:rPr>
              <a:t>The obvious way of using nnU-Net fires </a:t>
            </a:r>
            <a:r>
              <a:rPr sz="1600" b="1" i="0">
                <a:solidFill>
                  <a:srgbClr val="4A525C"/>
                </a:solidFill>
                <a:latin typeface="Inter"/>
                <a:ea typeface="Pretendard"/>
              </a:rPr>
              <a:t>3 × PREPROCESS_BEFORE_SPLIT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858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 i="0">
                <a:solidFill>
                  <a:srgbClr val="1B2A4E"/>
                </a:solidFill>
                <a:latin typeface="Inter"/>
                <a:ea typeface="Pretendard"/>
              </a:rPr>
              <a:t>Internal 0.9595 → external CT 0.8932 → MRI 0.0152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40080" y="1883664"/>
            <a:ext cx="548639" cy="0"/>
          </a:xfrm>
          <a:prstGeom prst="line">
            <a:avLst/>
          </a:prstGeom>
          <a:ln w="31750">
            <a:solidFill>
              <a:srgbClr val="B83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2194560"/>
            <a:ext cx="6217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5" name="Rectangle 4"/>
          <p:cNvSpPr/>
          <p:nvPr/>
        </p:nvSpPr>
        <p:spPr>
          <a:xfrm>
            <a:off x="7278624" y="2581163"/>
            <a:ext cx="4572000" cy="2994121"/>
          </a:xfrm>
          <a:prstGeom prst="rect">
            <a:avLst/>
          </a:prstGeom>
          <a:solidFill>
            <a:srgbClr val="CCD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cross_cohorts_d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2526299"/>
            <a:ext cx="4572000" cy="2994121"/>
          </a:xfrm>
          <a:prstGeom prst="rect">
            <a:avLst/>
          </a:prstGeom>
          <a:ln w="6000">
            <a:solidFill>
              <a:srgbClr val="CCD0D6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7223760" y="561186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spc="200">
                <a:solidFill>
                  <a:srgbClr val="B83E3A"/>
                </a:solidFill>
                <a:latin typeface="Inter"/>
                <a:ea typeface="Pretendard"/>
              </a:rPr>
              <a:t>Figure  ·  </a:t>
            </a:r>
            <a:r>
              <a:rPr sz="2000" b="0" i="1">
                <a:solidFill>
                  <a:srgbClr val="8A929E"/>
                </a:solidFill>
                <a:latin typeface="Inter"/>
                <a:ea typeface="Pretendard"/>
              </a:rPr>
              <a:t>Δ vs internal: -0.0662 [-0.0996--0.0416] and -0.9443 [-0.9715--0.8813]. Bootstrap 10,000, seeded per arm.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858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 i="0">
                <a:solidFill>
                  <a:srgbClr val="1B2A4E"/>
                </a:solidFill>
                <a:latin typeface="Inter"/>
                <a:ea typeface="Pretendard"/>
              </a:rPr>
              <a:t>The external median hides a tail that reaches zero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40080" y="1883664"/>
            <a:ext cx="548639" cy="0"/>
          </a:xfrm>
          <a:prstGeom prst="line">
            <a:avLst/>
          </a:prstGeom>
          <a:ln w="31750">
            <a:solidFill>
              <a:srgbClr val="B83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2194560"/>
            <a:ext cx="6217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 b="1" i="0">
                <a:solidFill>
                  <a:srgbClr val="B83E3A"/>
                </a:solidFill>
                <a:latin typeface="Inter"/>
                <a:ea typeface="Pretendard"/>
              </a:rPr>
              <a:t>▪  </a:t>
            </a:r>
            <a:r>
              <a:rPr sz="2000" b="1" i="0">
                <a:solidFill>
                  <a:srgbClr val="21252B"/>
                </a:solidFill>
                <a:latin typeface="Inter"/>
                <a:ea typeface="Pretendard"/>
              </a:rPr>
              <a:t>28 of 300</a:t>
            </a:r>
            <a:r>
              <a:rPr sz="2000" b="0" i="0">
                <a:solidFill>
                  <a:srgbClr val="21252B"/>
                </a:solidFill>
                <a:latin typeface="Inter"/>
                <a:ea typeface="Pretendard"/>
              </a:rPr>
              <a:t> external CT predictions were empty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 b="1" i="0">
                <a:solidFill>
                  <a:srgbClr val="B83E3A"/>
                </a:solidFill>
                <a:latin typeface="Inter"/>
                <a:ea typeface="Pretendard"/>
              </a:rPr>
              <a:t>▪  </a:t>
            </a:r>
            <a:r>
              <a:rPr sz="2000" b="1" i="0">
                <a:solidFill>
                  <a:srgbClr val="21252B"/>
                </a:solidFill>
                <a:latin typeface="Inter"/>
                <a:ea typeface="Pretendard"/>
              </a:rPr>
              <a:t>Both</a:t>
            </a:r>
            <a:r>
              <a:rPr sz="2000" b="0" i="0">
                <a:solidFill>
                  <a:srgbClr val="21252B"/>
                </a:solidFill>
                <a:latin typeface="Inter"/>
                <a:ea typeface="Pretendard"/>
              </a:rPr>
              <a:t> spleen-free cases got a prediction anyway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 b="1" i="0">
                <a:solidFill>
                  <a:srgbClr val="B83E3A"/>
                </a:solidFill>
                <a:latin typeface="Inter"/>
                <a:ea typeface="Pretendard"/>
              </a:rPr>
              <a:t>▪  </a:t>
            </a:r>
            <a:r>
              <a:rPr sz="2000" b="0" i="0">
                <a:solidFill>
                  <a:srgbClr val="21252B"/>
                </a:solidFill>
                <a:latin typeface="Inter"/>
                <a:ea typeface="Pretendard"/>
              </a:rPr>
              <a:t>HD95 exists for only </a:t>
            </a:r>
            <a:r>
              <a:rPr sz="2000" b="1" i="0">
                <a:solidFill>
                  <a:srgbClr val="21252B"/>
                </a:solidFill>
                <a:latin typeface="Inter"/>
                <a:ea typeface="Pretendard"/>
              </a:rPr>
              <a:t>40 of 59</a:t>
            </a:r>
            <a:r>
              <a:rPr sz="2000" b="0" i="0">
                <a:solidFill>
                  <a:srgbClr val="21252B"/>
                </a:solidFill>
                <a:latin typeface="Inter"/>
                <a:ea typeface="Pretendard"/>
              </a:rPr>
              <a:t> MRI cases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278624" y="2985426"/>
            <a:ext cx="4572000" cy="2185595"/>
          </a:xfrm>
          <a:prstGeom prst="rect">
            <a:avLst/>
          </a:prstGeom>
          <a:solidFill>
            <a:srgbClr val="CCD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_dice_by_a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2930562"/>
            <a:ext cx="4572000" cy="2185595"/>
          </a:xfrm>
          <a:prstGeom prst="rect">
            <a:avLst/>
          </a:prstGeom>
          <a:ln w="6000">
            <a:solidFill>
              <a:srgbClr val="CCD0D6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858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 i="0">
                <a:solidFill>
                  <a:srgbClr val="1B2A4E"/>
                </a:solidFill>
                <a:latin typeface="Inter"/>
                <a:ea typeface="Pretendard"/>
              </a:rPr>
              <a:t>The model is worst on the spleens the task exists to measure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40080" y="1883664"/>
            <a:ext cx="548639" cy="0"/>
          </a:xfrm>
          <a:prstGeom prst="line">
            <a:avLst/>
          </a:prstGeom>
          <a:ln w="31750">
            <a:solidFill>
              <a:srgbClr val="B83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2194560"/>
            <a:ext cx="6217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5" name="Rectangle 4"/>
          <p:cNvSpPr/>
          <p:nvPr/>
        </p:nvSpPr>
        <p:spPr>
          <a:xfrm>
            <a:off x="7278624" y="2823204"/>
            <a:ext cx="4572000" cy="2510039"/>
          </a:xfrm>
          <a:prstGeom prst="rect">
            <a:avLst/>
          </a:prstGeom>
          <a:solidFill>
            <a:srgbClr val="CCD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3_subgroups_external_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2768340"/>
            <a:ext cx="4572000" cy="2510039"/>
          </a:xfrm>
          <a:prstGeom prst="rect">
            <a:avLst/>
          </a:prstGeom>
          <a:ln w="6000">
            <a:solidFill>
              <a:srgbClr val="CCD0D6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7223760" y="5369819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spc="200">
                <a:solidFill>
                  <a:srgbClr val="B83E3A"/>
                </a:solidFill>
                <a:latin typeface="Inter"/>
                <a:ea typeface="Pretendard"/>
              </a:rPr>
              <a:t>Figure  ·  </a:t>
            </a:r>
            <a:r>
              <a:rPr sz="2000" b="0" i="1">
                <a:solidFill>
                  <a:srgbClr val="8A929E"/>
                </a:solidFill>
                <a:latin typeface="Inter"/>
                <a:ea typeface="Pretendard"/>
              </a:rPr>
              <a:t>Enlarged &gt;250 mL: 0.7694 (n=67) vs normal: 0.9114 (n=194). Cut-points fixed before scoring.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D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" y="2743200"/>
            <a:ext cx="15000" cy="1645920"/>
          </a:xfrm>
          <a:prstGeom prst="rect">
            <a:avLst/>
          </a:prstGeom>
          <a:solidFill>
            <a:srgbClr val="B83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286000"/>
            <a:ext cx="2743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 i="0" spc="400">
                <a:solidFill>
                  <a:srgbClr val="B83E3A"/>
                </a:solidFill>
                <a:latin typeface="Inter"/>
                <a:ea typeface="Pretendard"/>
              </a:rPr>
              <a:t>SECTION 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83464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5200" b="1" i="0">
                <a:solidFill>
                  <a:srgbClr val="FFFFFF"/>
                </a:solidFill>
                <a:latin typeface="Inter"/>
                <a:ea typeface="Pretendard"/>
              </a:rPr>
              <a:t>Rung 3 was constructed, and here is what it measured</a:t>
            </a:r>
          </a:p>
          <a:p>
            <a:pPr algn="l"/>
            <a:r>
              <a:rPr sz="2000" b="0" i="1">
                <a:solidFill>
                  <a:srgbClr val="C0CBDC"/>
                </a:solidFill>
                <a:latin typeface="Inter"/>
                <a:ea typeface="Pretendard"/>
              </a:rPr>
              <a:t>We predicted the collapse in writing before inference ran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59436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 b="1" i="0" spc="500">
                <a:solidFill>
                  <a:srgbClr val="8A929E"/>
                </a:solidFill>
                <a:latin typeface="Inter"/>
                <a:ea typeface="Pretendard"/>
              </a:rPr>
              <a:t>3  MIN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858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 i="0">
                <a:solidFill>
                  <a:srgbClr val="1B2A4E"/>
                </a:solidFill>
                <a:latin typeface="Inter"/>
                <a:ea typeface="Pretendard"/>
              </a:rPr>
              <a:t>A Hounsfield clip applied to images that are not in Hounsfield units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40080" y="1883664"/>
            <a:ext cx="548639" cy="0"/>
          </a:xfrm>
          <a:prstGeom prst="line">
            <a:avLst/>
          </a:prstGeom>
          <a:ln w="31750">
            <a:solidFill>
              <a:srgbClr val="B83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2194560"/>
            <a:ext cx="6217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 b="1" i="0">
                <a:solidFill>
                  <a:srgbClr val="B83E3A"/>
                </a:solidFill>
                <a:latin typeface="Inter"/>
                <a:ea typeface="Pretendard"/>
              </a:rPr>
              <a:t>▪  </a:t>
            </a:r>
            <a:r>
              <a:rPr sz="2000" b="0" i="0">
                <a:solidFill>
                  <a:srgbClr val="21252B"/>
                </a:solidFill>
                <a:latin typeface="Inter"/>
                <a:ea typeface="Pretendard"/>
              </a:rPr>
              <a:t>Negative voxels: </a:t>
            </a:r>
            <a:r>
              <a:rPr sz="2000" b="1" i="0">
                <a:solidFill>
                  <a:srgbClr val="21252B"/>
                </a:solidFill>
                <a:latin typeface="Inter"/>
                <a:ea typeface="Pretendard"/>
              </a:rPr>
              <a:t>300/300</a:t>
            </a:r>
            <a:r>
              <a:rPr sz="2000" b="0" i="0">
                <a:solidFill>
                  <a:srgbClr val="21252B"/>
                </a:solidFill>
                <a:latin typeface="Inter"/>
                <a:ea typeface="Pretendard"/>
              </a:rPr>
              <a:t> CT, </a:t>
            </a:r>
            <a:r>
              <a:rPr sz="2000" b="1" i="0">
                <a:solidFill>
                  <a:srgbClr val="21252B"/>
                </a:solidFill>
                <a:latin typeface="Inter"/>
                <a:ea typeface="Pretendard"/>
              </a:rPr>
              <a:t>0/60</a:t>
            </a:r>
            <a:r>
              <a:rPr sz="2000" b="0" i="0">
                <a:solidFill>
                  <a:srgbClr val="21252B"/>
                </a:solidFill>
                <a:latin typeface="Inter"/>
                <a:ea typeface="Pretendard"/>
              </a:rPr>
              <a:t> MRI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 b="1" i="0">
                <a:solidFill>
                  <a:srgbClr val="B83E3A"/>
                </a:solidFill>
                <a:latin typeface="Inter"/>
                <a:ea typeface="Pretendard"/>
              </a:rPr>
              <a:t>▪  </a:t>
            </a:r>
            <a:r>
              <a:rPr sz="2000" b="0" i="0">
                <a:solidFill>
                  <a:srgbClr val="21252B"/>
                </a:solidFill>
                <a:latin typeface="Inter"/>
                <a:ea typeface="Pretendard"/>
              </a:rPr>
              <a:t>Clipped at the ceiling: </a:t>
            </a:r>
            <a:r>
              <a:rPr sz="2000" b="1" i="0">
                <a:solidFill>
                  <a:srgbClr val="21252B"/>
                </a:solidFill>
                <a:latin typeface="Inter"/>
                <a:ea typeface="Pretendard"/>
              </a:rPr>
              <a:t>2.7%</a:t>
            </a:r>
            <a:r>
              <a:rPr sz="2000" b="0" i="0">
                <a:solidFill>
                  <a:srgbClr val="21252B"/>
                </a:solidFill>
                <a:latin typeface="Inter"/>
                <a:ea typeface="Pretendard"/>
              </a:rPr>
              <a:t> vs </a:t>
            </a:r>
            <a:r>
              <a:rPr sz="2000" b="1" i="0">
                <a:solidFill>
                  <a:srgbClr val="21252B"/>
                </a:solidFill>
                <a:latin typeface="Inter"/>
                <a:ea typeface="Pretendard"/>
              </a:rPr>
              <a:t>23.2%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 b="1" i="0">
                <a:solidFill>
                  <a:srgbClr val="B83E3A"/>
                </a:solidFill>
                <a:latin typeface="Inter"/>
                <a:ea typeface="Pretendard"/>
              </a:rPr>
              <a:t>▪  </a:t>
            </a:r>
            <a:r>
              <a:rPr sz="2000" b="1" i="0">
                <a:solidFill>
                  <a:srgbClr val="21252B"/>
                </a:solidFill>
                <a:latin typeface="Inter"/>
                <a:ea typeface="Pretendard"/>
              </a:rPr>
              <a:t>No argument declares the modality</a:t>
            </a:r>
            <a:r>
              <a:rPr sz="2000" b="0" i="0">
                <a:solidFill>
                  <a:srgbClr val="21252B"/>
                </a:solidFill>
                <a:latin typeface="Inter"/>
                <a:ea typeface="Pretendard"/>
              </a:rPr>
              <a:t> — the normaliser rides with the checkpoint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278624" y="3078800"/>
            <a:ext cx="4572000" cy="1998846"/>
          </a:xfrm>
          <a:prstGeom prst="rect">
            <a:avLst/>
          </a:prstGeom>
          <a:solidFill>
            <a:srgbClr val="CCD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4_normalisation_evi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3023936"/>
            <a:ext cx="4572000" cy="1998846"/>
          </a:xfrm>
          <a:prstGeom prst="rect">
            <a:avLst/>
          </a:prstGeom>
          <a:ln w="6000">
            <a:solidFill>
              <a:srgbClr val="CCD0D6"/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858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 i="0">
                <a:solidFill>
                  <a:srgbClr val="1B2A4E"/>
                </a:solidFill>
                <a:latin typeface="Inter"/>
                <a:ea typeface="Pretendard"/>
              </a:rPr>
              <a:t>Our own profiler had already found it — and filed it as Minor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40080" y="1883664"/>
            <a:ext cx="548639" cy="0"/>
          </a:xfrm>
          <a:prstGeom prst="line">
            <a:avLst/>
          </a:prstGeom>
          <a:ln w="31750">
            <a:solidFill>
              <a:srgbClr val="B83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 b="1" i="0">
                <a:solidFill>
                  <a:srgbClr val="B83E3A"/>
                </a:solidFill>
                <a:latin typeface="Inter"/>
                <a:ea typeface="Pretendard"/>
              </a:rPr>
              <a:t>▪  </a:t>
            </a:r>
            <a:r>
              <a:rPr sz="2000" b="1" i="0">
                <a:solidFill>
                  <a:srgbClr val="21252B"/>
                </a:solidFill>
                <a:latin typeface="Inter"/>
                <a:ea typeface="Pretendard"/>
              </a:rPr>
              <a:t>`INTENSITY_SCALE_INCONSISTENT`</a:t>
            </a:r>
            <a:r>
              <a:rPr sz="2000" b="0" i="0">
                <a:solidFill>
                  <a:srgbClr val="21252B"/>
                </a:solidFill>
                <a:latin typeface="Inter"/>
                <a:ea typeface="Pretendard"/>
              </a:rPr>
              <a:t> — filed </a:t>
            </a:r>
            <a:r>
              <a:rPr sz="2000" b="1" i="0">
                <a:solidFill>
                  <a:srgbClr val="21252B"/>
                </a:solidFill>
                <a:latin typeface="Inter"/>
                <a:ea typeface="Pretendard"/>
              </a:rPr>
              <a:t>Minor</a:t>
            </a:r>
          </a:p>
          <a:p>
            <a:pPr algn="l" lvl="1">
              <a:lnSpc>
                <a:spcPct val="125000"/>
              </a:lnSpc>
              <a:spcAft>
                <a:spcPts val="1000"/>
              </a:spcAft>
            </a:pPr>
            <a:r>
              <a:rPr sz="1500" b="0" i="0">
                <a:solidFill>
                  <a:srgbClr val="8A929E"/>
                </a:solidFill>
                <a:latin typeface="Inter"/>
                <a:ea typeface="Pretendard"/>
              </a:rPr>
              <a:t>— </a:t>
            </a:r>
            <a:r>
              <a:rPr sz="1600" b="0" i="0">
                <a:solidFill>
                  <a:srgbClr val="4A525C"/>
                </a:solidFill>
                <a:latin typeface="Inter"/>
                <a:ea typeface="Pretendard"/>
              </a:rPr>
              <a:t>"500/600 cases bottom out near air and the rest do not"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 b="1" i="0">
                <a:solidFill>
                  <a:srgbClr val="B83E3A"/>
                </a:solidFill>
                <a:latin typeface="Inter"/>
                <a:ea typeface="Pretendard"/>
              </a:rPr>
              <a:t>▪  </a:t>
            </a:r>
            <a:r>
              <a:rPr sz="2000" b="1" i="0">
                <a:solidFill>
                  <a:srgbClr val="21252B"/>
                </a:solidFill>
                <a:latin typeface="Inter"/>
                <a:ea typeface="Pretendard"/>
              </a:rPr>
              <a:t>Not a detection gap. A routing and severity gap.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858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 i="0">
                <a:solidFill>
                  <a:srgbClr val="1B2A4E"/>
                </a:solidFill>
                <a:latin typeface="Inter"/>
                <a:ea typeface="Pretendard"/>
              </a:rPr>
              <a:t>Change only the input scale, and a fifth of the loss comes back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40080" y="1883664"/>
            <a:ext cx="548639" cy="0"/>
          </a:xfrm>
          <a:prstGeom prst="line">
            <a:avLst/>
          </a:prstGeom>
          <a:ln w="31750">
            <a:solidFill>
              <a:srgbClr val="B83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219456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 b="1" i="0">
                <a:solidFill>
                  <a:srgbClr val="B83E3A"/>
                </a:solidFill>
                <a:latin typeface="Inter"/>
                <a:ea typeface="Pretendard"/>
              </a:rPr>
              <a:t>▪  </a:t>
            </a:r>
            <a:r>
              <a:rPr sz="2000" b="1" i="0">
                <a:solidFill>
                  <a:srgbClr val="21252B"/>
                </a:solidFill>
                <a:latin typeface="Inter"/>
                <a:ea typeface="Pretendard"/>
              </a:rPr>
              <a:t>0.0152 → 0.3016</a:t>
            </a:r>
            <a:r>
              <a:rPr sz="2000" b="0" i="0">
                <a:solidFill>
                  <a:srgbClr val="21252B"/>
                </a:solidFill>
                <a:latin typeface="Inter"/>
                <a:ea typeface="Pretendard"/>
              </a:rPr>
              <a:t> — no retraining, same checkpoint</a:t>
            </a:r>
          </a:p>
          <a:p>
            <a:pPr algn="l" lvl="1">
              <a:lnSpc>
                <a:spcPct val="125000"/>
              </a:lnSpc>
              <a:spcAft>
                <a:spcPts val="1000"/>
              </a:spcAft>
            </a:pPr>
            <a:r>
              <a:rPr sz="1500" b="0" i="0">
                <a:solidFill>
                  <a:srgbClr val="8A929E"/>
                </a:solidFill>
                <a:latin typeface="Inter"/>
                <a:ea typeface="Pretendard"/>
              </a:rPr>
              <a:t>— </a:t>
            </a:r>
            <a:r>
              <a:rPr sz="1600" b="0" i="0">
                <a:solidFill>
                  <a:srgbClr val="4A525C"/>
                </a:solidFill>
                <a:latin typeface="Inter"/>
                <a:ea typeface="Pretendard"/>
              </a:rPr>
              <a:t>vs as-shipped MRI: </a:t>
            </a:r>
            <a:r>
              <a:rPr sz="1600" b="1" i="0">
                <a:solidFill>
                  <a:srgbClr val="4A525C"/>
                </a:solidFill>
                <a:latin typeface="Inter"/>
                <a:ea typeface="Pretendard"/>
              </a:rPr>
              <a:t>-0.6579</a:t>
            </a:r>
            <a:r>
              <a:rPr sz="1600" b="0" i="0">
                <a:solidFill>
                  <a:srgbClr val="4A525C"/>
                </a:solidFill>
                <a:latin typeface="Inter"/>
                <a:ea typeface="Pretendard"/>
              </a:rPr>
              <a:t> below internal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 b="1" i="0">
                <a:solidFill>
                  <a:srgbClr val="B83E3A"/>
                </a:solidFill>
                <a:latin typeface="Inter"/>
                <a:ea typeface="Pretendard"/>
              </a:rPr>
              <a:t>▪  </a:t>
            </a:r>
            <a:r>
              <a:rPr sz="2000" b="1" i="0">
                <a:solidFill>
                  <a:srgbClr val="21252B"/>
                </a:solidFill>
                <a:latin typeface="Inter"/>
                <a:ea typeface="Pretendard"/>
              </a:rPr>
              <a:t>Still far below CT: both mechanisms are real, and unequal.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 spc="400">
                <a:solidFill>
                  <a:srgbClr val="B83E3A"/>
                </a:solidFill>
                <a:latin typeface="Inter"/>
                <a:ea typeface="Pretendard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 i="0">
                <a:solidFill>
                  <a:srgbClr val="1B2A4E"/>
                </a:solidFill>
                <a:latin typeface="Inter"/>
                <a:ea typeface="Pretendard"/>
              </a:rPr>
              <a:t>What this establishes, and what it does not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600200"/>
            <a:ext cx="548639" cy="0"/>
          </a:xfrm>
          <a:prstGeom prst="line">
            <a:avLst/>
          </a:prstGeom>
          <a:ln w="31750">
            <a:solidFill>
              <a:srgbClr val="B83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201168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1400"/>
              </a:spcAft>
            </a:pPr>
            <a:r>
              <a:rPr sz="1600" b="1" i="0">
                <a:solidFill>
                  <a:srgbClr val="B83E3A"/>
                </a:solidFill>
                <a:latin typeface="Inter"/>
                <a:ea typeface="Pretendard"/>
              </a:rPr>
              <a:t>▪  </a:t>
            </a:r>
            <a:r>
              <a:rPr sz="2200" b="1" i="0">
                <a:solidFill>
                  <a:srgbClr val="21252B"/>
                </a:solidFill>
                <a:latin typeface="Inter"/>
                <a:ea typeface="Pretendard"/>
              </a:rPr>
              <a:t>Establishes:</a:t>
            </a:r>
            <a:r>
              <a:rPr sz="2200" b="0" i="0">
                <a:solidFill>
                  <a:srgbClr val="21252B"/>
                </a:solidFill>
                <a:latin typeface="Inter"/>
                <a:ea typeface="Pretendard"/>
              </a:rPr>
              <a:t> the run exited 0 and reported a number that means nothing</a:t>
            </a:r>
          </a:p>
          <a:p>
            <a:pPr algn="l">
              <a:lnSpc>
                <a:spcPct val="130000"/>
              </a:lnSpc>
              <a:spcAft>
                <a:spcPts val="1400"/>
              </a:spcAft>
            </a:pPr>
            <a:r>
              <a:rPr sz="1600" b="1" i="0">
                <a:solidFill>
                  <a:srgbClr val="B83E3A"/>
                </a:solidFill>
                <a:latin typeface="Inter"/>
                <a:ea typeface="Pretendard"/>
              </a:rPr>
              <a:t>▪  </a:t>
            </a:r>
            <a:r>
              <a:rPr sz="2200" b="1" i="0">
                <a:solidFill>
                  <a:srgbClr val="21252B"/>
                </a:solidFill>
                <a:latin typeface="Inter"/>
                <a:ea typeface="Pretendard"/>
              </a:rPr>
              <a:t>Measured:</a:t>
            </a:r>
            <a:r>
              <a:rPr sz="2200" b="0" i="0">
                <a:solidFill>
                  <a:srgbClr val="21252B"/>
                </a:solidFill>
                <a:latin typeface="Inter"/>
                <a:ea typeface="Pretendard"/>
              </a:rPr>
              <a:t> ~0.29 Dice preprocessing, ~0.59 representation</a:t>
            </a:r>
          </a:p>
          <a:p>
            <a:pPr algn="l">
              <a:lnSpc>
                <a:spcPct val="130000"/>
              </a:lnSpc>
              <a:spcAft>
                <a:spcPts val="1400"/>
              </a:spcAft>
            </a:pPr>
            <a:r>
              <a:rPr sz="1600" b="1" i="0">
                <a:solidFill>
                  <a:srgbClr val="B83E3A"/>
                </a:solidFill>
                <a:latin typeface="Inter"/>
                <a:ea typeface="Pretendard"/>
              </a:rPr>
              <a:t>▪  </a:t>
            </a:r>
            <a:r>
              <a:rPr sz="2200" b="1" i="0">
                <a:solidFill>
                  <a:srgbClr val="21252B"/>
                </a:solidFill>
                <a:latin typeface="Inter"/>
                <a:ea typeface="Pretendard"/>
              </a:rPr>
              <a:t>Does not:</a:t>
            </a:r>
            <a:r>
              <a:rPr sz="2200" b="0" i="0">
                <a:solidFill>
                  <a:srgbClr val="21252B"/>
                </a:solidFill>
                <a:latin typeface="Inter"/>
                <a:ea typeface="Pretendard"/>
              </a:rPr>
              <a:t> support general claims — one organ, one team</a:t>
            </a:r>
          </a:p>
          <a:p>
            <a:pPr algn="l">
              <a:lnSpc>
                <a:spcPct val="130000"/>
              </a:lnSpc>
              <a:spcAft>
                <a:spcPts val="1400"/>
              </a:spcAft>
            </a:pPr>
            <a:r>
              <a:rPr sz="1600" b="1" i="0">
                <a:solidFill>
                  <a:srgbClr val="B83E3A"/>
                </a:solidFill>
                <a:latin typeface="Inter"/>
                <a:ea typeface="Pretendard"/>
              </a:rPr>
              <a:t>▪  </a:t>
            </a:r>
            <a:r>
              <a:rPr sz="2200" b="1" i="0">
                <a:solidFill>
                  <a:srgbClr val="21252B"/>
                </a:solidFill>
                <a:latin typeface="Inter"/>
                <a:ea typeface="Pretendard"/>
              </a:rPr>
              <a:t>Open:</a:t>
            </a:r>
            <a:r>
              <a:rPr sz="2200" b="0" i="0">
                <a:solidFill>
                  <a:srgbClr val="21252B"/>
                </a:solidFill>
                <a:latin typeface="Inter"/>
                <a:ea typeface="Pretendard"/>
              </a:rPr>
              <a:t> a volume-wise z-score is a different counterfactual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0" i="0">
                <a:solidFill>
                  <a:srgbClr val="4A525C"/>
                </a:solidFill>
                <a:latin typeface="Inter"/>
                <a:ea typeface="Pretendard"/>
              </a:rPr>
              <a:t>demo/05_msd_amos_spleen · every number re-derivable from the shipped CSVs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Widescreen</PresentationFormat>
  <Paragraphs>0</Paragraphs>
  <Slides>12</Slides>
  <Notes>12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Office Theme</vt:lpstr>
      <vt:lpstr>EXTERNAL VALIDATION</vt:lpstr>
      <vt:lpstr>The question is not whether a clinician can train a model. T</vt:lpstr>
      <vt:lpstr>41 labelled MSD cases became 32 train and 9 held-out; AMOS s</vt:lpstr>
      <vt:lpstr>Two gates ran before training, and the counterfactual had to</vt:lpstr>
      <vt:lpstr>Internal 0.9595 → external CT 0.8932 → MRI 0.0152</vt:lpstr>
      <vt:lpstr>The external median hides a tail that reaches zero</vt:lpstr>
      <vt:lpstr>The model is worst on the spleens the task exists to measure</vt:lpstr>
      <vt:lpstr>SECTION  03</vt:lpstr>
      <vt:lpstr>A Hounsfield clip applied to images that are not in Hounsfie</vt:lpstr>
      <vt:lpstr>Our own profiler had already found it — and filed it as Mino</vt:lpstr>
      <vt:lpstr>Change only the input scale, and a fifth of the loss comes b</vt:lpstr>
      <vt:lpstr>CONCLUSION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